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Good morning. We are Adishree and Akshat, guided by Dr. Shylaja S S. When a market video states a price or a trade, is that possible according to the market's own record at that moment? The picture is the whole talk: read the time from the TV chart, look up the recorded minute, answer fits / impossible / can't tell, with the evidence.</a:t>
            </a:r>
          </a:p>
          <a:p/>
          <a:p>
            <a:r>
              <a:t>IF THE PANEL ASKS:</a:t>
            </a:r>
          </a:p>
          <a:p>
            <a:r>
              <a:t>Q: Is this AI?</a:t>
            </a:r>
          </a:p>
          <a:p>
            <a:r>
              <a:t>A: AI models transcribe speech and read the screen; the checking itself is explicit, re-checkable logic.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Two real cases. First, our own CNBC-TV18 recording: 'Bank Nifty now at 55,150' - the recorded minute was 55,114 to 55,157, so it fits. Second, NDTV Profit's YouTube captions: 'Nifty50 24,616.6' - the record says 22,616.6. One digit differs, so it is most likely a caption error or a slip of the tongue; either way the number viewers read is impossible. And automatic checking is risky: our own first version wrongly called 36 of 37 statements impossible.</a:t>
            </a:r>
          </a:p>
          <a:p/>
          <a:p>
            <a:r>
              <a:t>IF THE PANEL ASKS:</a:t>
            </a:r>
          </a:p>
          <a:p>
            <a:r>
              <a:t>Q: So did the anchor make a mistake?</a:t>
            </a:r>
          </a:p>
          <a:p>
            <a:r>
              <a:t>A: We cannot say. The caption text is impossible; who caused it the record cannot show.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Given a video, the market's minute record and the date the video was published, we give every claim three answers - Trade, Timing, Tenure - with evidence. The key rule: say FAIL only when the claim is impossible however the sentence is reasonably read, and only when all four conditions on the right hold. Otherwise ABSTAIN. Note the app's names for the three checks, shown in brackets.</a:t>
            </a:r>
          </a:p>
          <a:p/>
          <a:p>
            <a:r>
              <a:t>IF THE PANEL ASKS:</a:t>
            </a:r>
          </a:p>
          <a:p>
            <a:r>
              <a:t>Q: Who decides what a 'sensible reading' is?</a:t>
            </a:r>
          </a:p>
          <a:p>
            <a:r>
              <a:t>A: The software tries the readings a listener could reasonably have: which stock, whether the number is a price now or a target, and how it was rounded. All must fail for FAIL.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Each row is a family of published research methods; the names are the papers' names, listed on slide 15. Read the table by column. The closest idea to ours is ENF forensics: it works out when an audio recording was made by matching the faint electric hum in it to the power grid's log. We do the same kind of thing with the price and day's high on a TV chart, matched to the market's log.</a:t>
            </a:r>
          </a:p>
          <a:p/>
          <a:p>
            <a:r>
              <a:t>IF THE PANEL ASKS:</a:t>
            </a:r>
          </a:p>
          <a:p>
            <a:r>
              <a:t>Q: Isn't this just ENF?</a:t>
            </a:r>
          </a:p>
          <a:p>
            <a:r>
              <a:t>A: Same family: dating against a reference log. Different signal - the TV chart - plus careful claim checking.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Three contributions, each tied to evidence. One: the question itself, with the rule that 'impossible' must survive every sensible reading. Two: dating from the chart. Three: measurements on real broadcasts. The software is engineering, not claimed as research novelty.</a:t>
            </a:r>
          </a:p>
          <a:p/>
          <a:p>
            <a:r>
              <a:t>IF THE PANEL ASKS:</a:t>
            </a:r>
          </a:p>
          <a:p>
            <a:r>
              <a:t>Q: Which result would you defend first?</a:t>
            </a:r>
          </a:p>
          <a:p>
            <a:r>
              <a:t>A: That a careless checker was right in only 1 of 37 'impossible' calls on new TV days.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Pictures go to two readers: the frame reader reads the chart and works out the market time; the text reader reads prices, quantities and profit figures. Sound goes to the audio reader. Everything becomes one claim list with market times. The three checks run independently against the market record, and their answers form the certificate.</a:t>
            </a:r>
          </a:p>
          <a:p/>
          <a:p>
            <a:r>
              <a:t>IF THE PANEL ASKS:</a:t>
            </a:r>
          </a:p>
          <a:p>
            <a:r>
              <a:t>Q: What happens without a chart on screen?</a:t>
            </a:r>
          </a:p>
          <a:p>
            <a:r>
              <a:t>A: The frame reader says so, and claims are timed with the recording computer's clock, labelled.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rules in words; the same rules in mathematical notation are in Appendix A for specialists. Rule 1 keeps only the moments where every frame's price and day-high match the record. Rule 2 says when a claim fits. Rule 3 gives the answer. The two guarantees are proven in Appendix B. The figure shows a single real frame: the price alone fits 22 minutes of the day; with the day's high, only 8.</a:t>
            </a:r>
          </a:p>
          <a:p/>
          <a:p>
            <a:r>
              <a:t>IF THE PANEL ASKS:</a:t>
            </a:r>
          </a:p>
          <a:p>
            <a:r>
              <a:t>Q: What is the objective function?</a:t>
            </a:r>
          </a:p>
          <a:p>
            <a:r>
              <a:t>A: There is nothing to train. The rules are built so that FAIL is never issued wrongly under the stated conditions.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Remember FACT. Frames to clock: the market time of every frame, from the chart. All claims: what the video shows and says. Check with three T's: Trade, Timing, Tenure. Tell the verdict with evidence. Middle column: what each step does in plain words. Right column: the same step as pseudocode - exactly what the software runs. The three distinctive operations are named at the bottom.</a:t>
            </a:r>
          </a:p>
          <a:p/>
          <a:p>
            <a:r>
              <a:t>IF THE PANEL ASKS:</a:t>
            </a:r>
          </a:p>
          <a:p>
            <a:r>
              <a:t>Q: Why have a Tenure check that never FAILs?</a:t>
            </a:r>
          </a:p>
          <a:p>
            <a:r>
              <a:t>A: It reports a fact - how old the data was. Whether the SEBI rule applies depends on who the speaker is, which a video cannot show; so it never declares a breach.</a:t>
            </a:r>
          </a:p>
          <a:p>
            <a:r>
              <a:t>Q: What is the cost?</a:t>
            </a:r>
          </a:p>
          <a:p>
            <a:r>
              <a:t>A: Per trading day, each frame's set is built in one pass over the day's minutes; intersecting sets is linear in their size. All checks run in under a second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One real sentence end to end. The anchor says '22,700 is where the index finds itself'. The frame reader reads the boxed numbers; of the 7 trading days in our data only 6 October fits, at 13:02:55 give or take 4 seconds. The speaker may be reading a screen up to 3 minutes old, so we check 12:59:51 to 13:02:59. The 13:02 minute ranged 22,693 to 22,706; allowing for rounding, 22,700 fits: TIMING PASS. No share count was said, so TRADE can't tell; TENURE can't tell because the rule depends on who the speaker is.</a:t>
            </a:r>
          </a:p>
          <a:p/>
          <a:p>
            <a:r>
              <a:t>IF THE PANEL ASKS:</a:t>
            </a:r>
          </a:p>
          <a:p>
            <a:r>
              <a:t>Q: Why 22,699.40 in the picture but 22,699.35 elsewhere?</a:t>
            </a:r>
          </a:p>
          <a:p>
            <a:r>
              <a:t>A: The on-screen number changes several times a second; the picture is a frame a fraction of a second apart. Both fit.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Each experiment answers one question with its own data, so we never quote one overall accuracy. E2 is the fair test: the first version was locked and scored on 8 TV days it had never seen. Fixes were then made using those same days, so results after the fixes are weaker evidence.</a:t>
            </a:r>
          </a:p>
          <a:p/>
          <a:p>
            <a:r>
              <a:t>IF THE PANEL ASKS:</a:t>
            </a:r>
          </a:p>
          <a:p>
            <a:r>
              <a:t>Q: An AI judged an AI?</a:t>
            </a:r>
          </a:p>
          <a:p>
            <a:r>
              <a:t>A: A separate AI model was given only each sentence and asked what it claims - a current price, a target and so on. It never saw our answers. Human judges are a next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Left: the fair test. The locked first version said FAIL 37 times on new days; only 1 was right. After the fixes, on the same days, one FAIL remains and it is right - weaker evidence, because those days were used for fixing. Right: each test with its count and a 95 percent range. Dating: right for all 3 recordings where it gave a date; it refused one.</a:t>
            </a:r>
          </a:p>
          <a:p/>
          <a:p>
            <a:r>
              <a:t>IF THE PANEL ASKS:</a:t>
            </a:r>
          </a:p>
          <a:p>
            <a:r>
              <a:t>Q: Is the improvement proven?</a:t>
            </a:r>
          </a:p>
          <a:p>
            <a:r>
              <a:t>A: Not yet on new days. It is shown on the days used for fixing; a fresh locked test is the first next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We switched parts off to show they are needed. The curve: on a 110-second Bank Nifty clip, each frame rules out more possible times. With the day's high, one moment remains, give or take 4 seconds. With price alone, two separate moments about 24 minutes apart remain, so we cannot tell which. On 20-minute recordings it made no difference, which we report.</a:t>
            </a:r>
          </a:p>
          <a:p/>
          <a:p>
            <a:r>
              <a:t>IF THE PANEL ASKS:</a:t>
            </a:r>
          </a:p>
          <a:p>
            <a:r>
              <a:t>Q: Why keep a part that does nothing on long recordings?</a:t>
            </a:r>
          </a:p>
          <a:p>
            <a:r>
              <a:t>A: Clips shared online are short; there it decides whether the time can be known.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Real screenshots. Note the app's names for the three checks: Fill conservation is TRADE, Knowability is TIMING, Data age is TENURE. Top: the three answers. Middle: the TIMING answer in words. Bottom: the exact words spoken and the frame at that moment. The 40 percent is how sure the speech software was about the number; the number also appears on screen (22,699), so the claim is clear - but the app does not yet lower its answers for low confidence, which is listed as future work.</a:t>
            </a:r>
          </a:p>
          <a:p/>
          <a:p>
            <a:r>
              <a:t>IF THE PANEL ASKS:</a:t>
            </a:r>
          </a:p>
          <a:p>
            <a:r>
              <a:t>Q: Why PASS with only 40 % confidence?</a:t>
            </a:r>
          </a:p>
          <a:p>
            <a:r>
              <a:t>A: The confidence is shown, not hidden; the screen independently shows 22,699. Using confidence to switch to ABSTAIN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Limits first, then the research agenda. The single biggest gap: the improved rules have not yet been tested on new days.</a:t>
            </a:r>
          </a:p>
          <a:p/>
          <a:p>
            <a:r>
              <a:t>IF THE PANEL ASKS:</a:t>
            </a:r>
          </a:p>
          <a:p>
            <a:r>
              <a:t>Q: What is the first next experiment?</a:t>
            </a:r>
          </a:p>
          <a:p>
            <a:r>
              <a:t>A: Lock the current rules and score them on new TV days with human judges.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Three takeaways: a new checking task; dating a video from its own chart; and the finding that careless checking is wrong almost every time it accuses. All within the limits on slide 14. Thank you.</a:t>
            </a:r>
          </a:p>
          <a:p/>
          <a:p>
            <a:r>
              <a:t>IF THE PANEL ASKS:</a:t>
            </a:r>
          </a:p>
          <a:p>
            <a:r>
              <a:t>Q: What is proven, what is not?</a:t>
            </a:r>
          </a:p>
          <a:p>
            <a:r>
              <a:t>A: Proven: the two guarantees under their conditions; on our data, the date was right whenever given, and careless checking mostly accuses wrongly. Not yet: that the fixes work on new days, and real personal trades.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Backup: every rule, in words and symbols.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Backup: short proofs and the exact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Backup: definitions of every technical term.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UE23CS441A · CAPSTONE PHASE 3 · REVIEW 2</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Did That Trade Really Happen?</a:t>
            </a:r>
          </a:p>
        </p:txBody>
      </p:sp>
      <p:sp>
        <p:nvSpPr>
          <p:cNvPr id="4" name="Rectangle 3"/>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a:t>
            </a:r>
          </a:p>
        </p:txBody>
      </p:sp>
      <p:sp>
        <p:nvSpPr>
          <p:cNvPr id="6" name="TextBox 5"/>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7" name="TextBox 6"/>
          <p:cNvSpPr txBox="1"/>
          <p:nvPr/>
        </p:nvSpPr>
        <p:spPr>
          <a:xfrm>
            <a:off x="548640" y="1371600"/>
            <a:ext cx="11155680" cy="457200"/>
          </a:xfrm>
          <a:prstGeom prst="rect">
            <a:avLst/>
          </a:prstGeom>
          <a:noFill/>
        </p:spPr>
        <p:txBody>
          <a:bodyPr wrap="square">
            <a:spAutoFit/>
          </a:bodyPr>
          <a:lstStyle/>
          <a:p>
            <a:pPr algn="l">
              <a:spcAft>
                <a:spcPts val="0"/>
              </a:spcAft>
            </a:pPr>
            <a:r>
              <a:rPr sz="1700" b="0">
                <a:solidFill>
                  <a:srgbClr val="44505E"/>
                </a:solidFill>
                <a:latin typeface="Segoe UI"/>
              </a:rPr>
              <a:t>Checking prices and trades stated in market videos against the market's own record, at that moment</a:t>
            </a:r>
          </a:p>
        </p:txBody>
      </p:sp>
      <p:sp>
        <p:nvSpPr>
          <p:cNvPr id="8" name="TextBox 7"/>
          <p:cNvSpPr txBox="1"/>
          <p:nvPr/>
        </p:nvSpPr>
        <p:spPr>
          <a:xfrm>
            <a:off x="548640" y="1874519"/>
            <a:ext cx="5120640" cy="274320"/>
          </a:xfrm>
          <a:prstGeom prst="rect">
            <a:avLst/>
          </a:prstGeom>
          <a:noFill/>
        </p:spPr>
        <p:txBody>
          <a:bodyPr wrap="square">
            <a:spAutoFit/>
          </a:bodyPr>
          <a:lstStyle/>
          <a:p>
            <a:pPr algn="l">
              <a:spcAft>
                <a:spcPts val="0"/>
              </a:spcAft>
            </a:pPr>
            <a:r>
              <a:rPr sz="1100" b="1">
                <a:solidFill>
                  <a:srgbClr val="0B5C8E"/>
                </a:solidFill>
                <a:latin typeface="Segoe UI"/>
              </a:rPr>
              <a:t>① a real TV frame: the software reads the boxed numbers</a:t>
            </a:r>
          </a:p>
        </p:txBody>
      </p:sp>
      <p:pic>
        <p:nvPicPr>
          <p:cNvPr id="9" name="Picture 8" descr="fig_frame_annotated.png"/>
          <p:cNvPicPr>
            <a:picLocks noChangeAspect="1"/>
          </p:cNvPicPr>
          <p:nvPr/>
        </p:nvPicPr>
        <p:blipFill>
          <a:blip r:embed="rId3"/>
          <a:stretch>
            <a:fillRect/>
          </a:stretch>
        </p:blipFill>
        <p:spPr>
          <a:xfrm>
            <a:off x="548640" y="2148840"/>
            <a:ext cx="5120640" cy="2093617"/>
          </a:xfrm>
          <a:prstGeom prst="rect">
            <a:avLst/>
          </a:prstGeom>
          <a:ln>
            <a:solidFill>
              <a:srgbClr val="D9D4CA"/>
            </a:solidFill>
          </a:ln>
        </p:spPr>
      </p:pic>
      <p:cxnSp>
        <p:nvCxnSpPr>
          <p:cNvPr id="10" name="Connector 9"/>
          <p:cNvCxnSpPr/>
          <p:nvPr/>
        </p:nvCxnSpPr>
        <p:spPr>
          <a:xfrm>
            <a:off x="5760720" y="3246120"/>
            <a:ext cx="411480" cy="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17920" y="1874519"/>
            <a:ext cx="1737360" cy="274320"/>
          </a:xfrm>
          <a:prstGeom prst="rect">
            <a:avLst/>
          </a:prstGeom>
          <a:noFill/>
        </p:spPr>
        <p:txBody>
          <a:bodyPr wrap="square">
            <a:spAutoFit/>
          </a:bodyPr>
          <a:lstStyle/>
          <a:p>
            <a:pPr algn="l">
              <a:spcAft>
                <a:spcPts val="0"/>
              </a:spcAft>
            </a:pPr>
            <a:r>
              <a:rPr sz="1100" b="1">
                <a:solidFill>
                  <a:srgbClr val="0B5C8E"/>
                </a:solidFill>
                <a:latin typeface="Segoe UI"/>
              </a:rPr>
              <a:t>② when was this?</a:t>
            </a:r>
          </a:p>
        </p:txBody>
      </p:sp>
      <p:sp>
        <p:nvSpPr>
          <p:cNvPr id="12" name="Rounded Rectangle 11"/>
          <p:cNvSpPr/>
          <p:nvPr/>
        </p:nvSpPr>
        <p:spPr>
          <a:xfrm>
            <a:off x="6217920" y="2743200"/>
            <a:ext cx="1600200" cy="68580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5C8E"/>
                </a:solidFill>
                <a:latin typeface="Segoe UI"/>
              </a:rPr>
              <a:t>6 Oct 2026
13:02:55</a:t>
            </a:r>
          </a:p>
        </p:txBody>
      </p:sp>
      <p:sp>
        <p:nvSpPr>
          <p:cNvPr id="13" name="TextBox 12"/>
          <p:cNvSpPr txBox="1"/>
          <p:nvPr/>
        </p:nvSpPr>
        <p:spPr>
          <a:xfrm>
            <a:off x="6217920" y="3474720"/>
            <a:ext cx="1645920" cy="914400"/>
          </a:xfrm>
          <a:prstGeom prst="rect">
            <a:avLst/>
          </a:prstGeom>
          <a:noFill/>
        </p:spPr>
        <p:txBody>
          <a:bodyPr wrap="square">
            <a:spAutoFit/>
          </a:bodyPr>
          <a:lstStyle/>
          <a:p>
            <a:pPr algn="l">
              <a:spcAft>
                <a:spcPts val="0"/>
              </a:spcAft>
            </a:pPr>
            <a:r>
              <a:rPr sz="1000" b="0">
                <a:solidFill>
                  <a:srgbClr val="8A939C"/>
                </a:solidFill>
                <a:latin typeface="Segoe UI"/>
              </a:rPr>
              <a:t>give or take 4 seconds - worked out from the chart alone (how: slide 7). No chart on screen → our recording clock, labelled</a:t>
            </a:r>
          </a:p>
        </p:txBody>
      </p:sp>
      <p:cxnSp>
        <p:nvCxnSpPr>
          <p:cNvPr id="14" name="Connector 13"/>
          <p:cNvCxnSpPr/>
          <p:nvPr/>
        </p:nvCxnSpPr>
        <p:spPr>
          <a:xfrm>
            <a:off x="7863840" y="3246120"/>
            <a:ext cx="365760" cy="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75320" y="1874519"/>
            <a:ext cx="3566160" cy="274320"/>
          </a:xfrm>
          <a:prstGeom prst="rect">
            <a:avLst/>
          </a:prstGeom>
          <a:noFill/>
        </p:spPr>
        <p:txBody>
          <a:bodyPr wrap="square">
            <a:spAutoFit/>
          </a:bodyPr>
          <a:lstStyle/>
          <a:p>
            <a:pPr algn="l">
              <a:spcAft>
                <a:spcPts val="0"/>
              </a:spcAft>
            </a:pPr>
            <a:r>
              <a:rPr sz="1100" b="1">
                <a:solidFill>
                  <a:srgbClr val="0B5C8E"/>
                </a:solidFill>
                <a:latin typeface="Segoe UI"/>
              </a:rPr>
              <a:t>③ what did the market record then?</a:t>
            </a:r>
          </a:p>
        </p:txBody>
      </p:sp>
      <p:pic>
        <p:nvPicPr>
          <p:cNvPr id="16" name="Picture 15" descr="fig_tape_example.png"/>
          <p:cNvPicPr>
            <a:picLocks noChangeAspect="1"/>
          </p:cNvPicPr>
          <p:nvPr/>
        </p:nvPicPr>
        <p:blipFill>
          <a:blip r:embed="rId4"/>
          <a:stretch>
            <a:fillRect/>
          </a:stretch>
        </p:blipFill>
        <p:spPr>
          <a:xfrm>
            <a:off x="8275320" y="2148840"/>
            <a:ext cx="3488634" cy="1783080"/>
          </a:xfrm>
          <a:prstGeom prst="rect">
            <a:avLst/>
          </a:prstGeom>
          <a:ln>
            <a:solidFill>
              <a:srgbClr val="D9D4CA"/>
            </a:solidFill>
          </a:ln>
        </p:spPr>
      </p:pic>
      <p:sp>
        <p:nvSpPr>
          <p:cNvPr id="17" name="TextBox 16"/>
          <p:cNvSpPr txBox="1"/>
          <p:nvPr/>
        </p:nvSpPr>
        <p:spPr>
          <a:xfrm>
            <a:off x="8275320" y="3931920"/>
            <a:ext cx="3566160" cy="411480"/>
          </a:xfrm>
          <a:prstGeom prst="rect">
            <a:avLst/>
          </a:prstGeom>
          <a:noFill/>
        </p:spPr>
        <p:txBody>
          <a:bodyPr wrap="square">
            <a:spAutoFit/>
          </a:bodyPr>
          <a:lstStyle/>
          <a:p>
            <a:pPr algn="l">
              <a:spcAft>
                <a:spcPts val="0"/>
              </a:spcAft>
            </a:pPr>
            <a:r>
              <a:rPr sz="900" b="0">
                <a:solidFill>
                  <a:srgbClr val="8A939C"/>
                </a:solidFill>
                <a:latin typeface="Segoe UI"/>
              </a:rPr>
              <a:t>bars = each minute's low–high · dashed = the 22,700 said · pink = its rounding range · blue = minutes the speaker could quote</a:t>
            </a:r>
          </a:p>
        </p:txBody>
      </p:sp>
      <p:sp>
        <p:nvSpPr>
          <p:cNvPr id="18" name="Rounded Rectangle 17"/>
          <p:cNvSpPr/>
          <p:nvPr/>
        </p:nvSpPr>
        <p:spPr>
          <a:xfrm>
            <a:off x="8275320" y="4434840"/>
            <a:ext cx="1115568" cy="365760"/>
          </a:xfrm>
          <a:prstGeom prst="roundRect">
            <a:avLst>
              <a:gd name="adj" fmla="val 6000"/>
            </a:avLst>
          </a:prstGeom>
          <a:solidFill>
            <a:srgbClr val="E3F1EA"/>
          </a:solidFill>
          <a:ln w="15875">
            <a:solidFill>
              <a:srgbClr val="E3F1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D6B4F"/>
                </a:solidFill>
                <a:latin typeface="Segoe UI"/>
              </a:rPr>
              <a:t>PASS</a:t>
            </a:r>
          </a:p>
        </p:txBody>
      </p:sp>
      <p:sp>
        <p:nvSpPr>
          <p:cNvPr id="19" name="TextBox 18"/>
          <p:cNvSpPr txBox="1"/>
          <p:nvPr/>
        </p:nvSpPr>
        <p:spPr>
          <a:xfrm>
            <a:off x="8275320" y="4800600"/>
            <a:ext cx="1115568" cy="274320"/>
          </a:xfrm>
          <a:prstGeom prst="rect">
            <a:avLst/>
          </a:prstGeom>
          <a:noFill/>
        </p:spPr>
        <p:txBody>
          <a:bodyPr wrap="square">
            <a:spAutoFit/>
          </a:bodyPr>
          <a:lstStyle/>
          <a:p>
            <a:pPr algn="ctr">
              <a:spcAft>
                <a:spcPts val="0"/>
              </a:spcAft>
            </a:pPr>
            <a:r>
              <a:rPr sz="1000" b="0">
                <a:solidFill>
                  <a:srgbClr val="8A939C"/>
                </a:solidFill>
                <a:latin typeface="Segoe UI"/>
              </a:rPr>
              <a:t>fits the record</a:t>
            </a:r>
          </a:p>
        </p:txBody>
      </p:sp>
      <p:sp>
        <p:nvSpPr>
          <p:cNvPr id="20" name="Rounded Rectangle 19"/>
          <p:cNvSpPr/>
          <p:nvPr/>
        </p:nvSpPr>
        <p:spPr>
          <a:xfrm>
            <a:off x="9482328" y="4434840"/>
            <a:ext cx="1115568" cy="365760"/>
          </a:xfrm>
          <a:prstGeom prst="roundRect">
            <a:avLst>
              <a:gd name="adj" fmla="val 6000"/>
            </a:avLst>
          </a:prstGeom>
          <a:solidFill>
            <a:srgbClr val="F8E4E4"/>
          </a:solidFill>
          <a:ln w="15875">
            <a:solidFill>
              <a:srgbClr val="F8E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A3282F"/>
                </a:solidFill>
                <a:latin typeface="Segoe UI"/>
              </a:rPr>
              <a:t>FAIL</a:t>
            </a:r>
          </a:p>
        </p:txBody>
      </p:sp>
      <p:sp>
        <p:nvSpPr>
          <p:cNvPr id="21" name="TextBox 20"/>
          <p:cNvSpPr txBox="1"/>
          <p:nvPr/>
        </p:nvSpPr>
        <p:spPr>
          <a:xfrm>
            <a:off x="9482328" y="4800600"/>
            <a:ext cx="1115568" cy="274320"/>
          </a:xfrm>
          <a:prstGeom prst="rect">
            <a:avLst/>
          </a:prstGeom>
          <a:noFill/>
        </p:spPr>
        <p:txBody>
          <a:bodyPr wrap="square">
            <a:spAutoFit/>
          </a:bodyPr>
          <a:lstStyle/>
          <a:p>
            <a:pPr algn="ctr">
              <a:spcAft>
                <a:spcPts val="0"/>
              </a:spcAft>
            </a:pPr>
            <a:r>
              <a:rPr sz="1000" b="0">
                <a:solidFill>
                  <a:srgbClr val="8A939C"/>
                </a:solidFill>
                <a:latin typeface="Segoe UI"/>
              </a:rPr>
              <a:t>impossible</a:t>
            </a:r>
          </a:p>
        </p:txBody>
      </p:sp>
      <p:sp>
        <p:nvSpPr>
          <p:cNvPr id="22" name="Rounded Rectangle 21"/>
          <p:cNvSpPr/>
          <p:nvPr/>
        </p:nvSpPr>
        <p:spPr>
          <a:xfrm>
            <a:off x="10689336" y="4434840"/>
            <a:ext cx="1115568" cy="365760"/>
          </a:xfrm>
          <a:prstGeom prst="roundRect">
            <a:avLst>
              <a:gd name="adj" fmla="val 6000"/>
            </a:avLst>
          </a:prstGeom>
          <a:solidFill>
            <a:srgbClr val="FBEFD6"/>
          </a:solidFill>
          <a:ln w="15875">
            <a:solidFill>
              <a:srgbClr val="FBEF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8A5A00"/>
                </a:solidFill>
                <a:latin typeface="Segoe UI"/>
              </a:rPr>
              <a:t>ABSTAIN</a:t>
            </a:r>
          </a:p>
        </p:txBody>
      </p:sp>
      <p:sp>
        <p:nvSpPr>
          <p:cNvPr id="23" name="TextBox 22"/>
          <p:cNvSpPr txBox="1"/>
          <p:nvPr/>
        </p:nvSpPr>
        <p:spPr>
          <a:xfrm>
            <a:off x="10689336" y="4800600"/>
            <a:ext cx="1115568" cy="274320"/>
          </a:xfrm>
          <a:prstGeom prst="rect">
            <a:avLst/>
          </a:prstGeom>
          <a:noFill/>
        </p:spPr>
        <p:txBody>
          <a:bodyPr wrap="square">
            <a:spAutoFit/>
          </a:bodyPr>
          <a:lstStyle/>
          <a:p>
            <a:pPr algn="ctr">
              <a:spcAft>
                <a:spcPts val="0"/>
              </a:spcAft>
            </a:pPr>
            <a:r>
              <a:rPr sz="1000" b="0">
                <a:solidFill>
                  <a:srgbClr val="8A939C"/>
                </a:solidFill>
                <a:latin typeface="Segoe UI"/>
              </a:rPr>
              <a:t>cannot tell</a:t>
            </a:r>
          </a:p>
        </p:txBody>
      </p:sp>
      <p:sp>
        <p:nvSpPr>
          <p:cNvPr id="24" name="TextBox 23"/>
          <p:cNvSpPr txBox="1"/>
          <p:nvPr/>
        </p:nvSpPr>
        <p:spPr>
          <a:xfrm>
            <a:off x="6217920" y="4343400"/>
            <a:ext cx="2011680" cy="731520"/>
          </a:xfrm>
          <a:prstGeom prst="rect">
            <a:avLst/>
          </a:prstGeom>
          <a:noFill/>
        </p:spPr>
        <p:txBody>
          <a:bodyPr wrap="square">
            <a:spAutoFit/>
          </a:bodyPr>
          <a:lstStyle/>
          <a:p>
            <a:pPr algn="l">
              <a:spcAft>
                <a:spcPts val="0"/>
              </a:spcAft>
            </a:pPr>
            <a:r>
              <a:rPr sz="1000" b="1">
                <a:solidFill>
                  <a:srgbClr val="0B5C8E"/>
                </a:solidFill>
                <a:latin typeface="Segoe UI"/>
              </a:rPr>
              <a:t>④ the answer: TIMING PASS (the other two checks, slide 3: can't tell)</a:t>
            </a:r>
          </a:p>
        </p:txBody>
      </p:sp>
      <p:sp>
        <p:nvSpPr>
          <p:cNvPr id="25" name="TextBox 24"/>
          <p:cNvSpPr txBox="1"/>
          <p:nvPr/>
        </p:nvSpPr>
        <p:spPr>
          <a:xfrm>
            <a:off x="548640" y="4572000"/>
            <a:ext cx="5486400" cy="822960"/>
          </a:xfrm>
          <a:prstGeom prst="rect">
            <a:avLst/>
          </a:prstGeom>
          <a:noFill/>
        </p:spPr>
        <p:txBody>
          <a:bodyPr wrap="square">
            <a:spAutoFit/>
          </a:bodyPr>
          <a:lstStyle/>
          <a:p>
            <a:pPr algn="l">
              <a:spcAft>
                <a:spcPts val="800"/>
              </a:spcAft>
            </a:pPr>
            <a:r>
              <a:rPr sz="1400" b="1">
                <a:solidFill>
                  <a:srgbClr val="14202E"/>
                </a:solidFill>
                <a:latin typeface="Segoe UI"/>
              </a:rPr>
              <a:t>Team: </a:t>
            </a:r>
            <a:r>
              <a:rPr sz="1400" b="0">
                <a:solidFill>
                  <a:srgbClr val="14202E"/>
                </a:solidFill>
                <a:latin typeface="Segoe UI"/>
              </a:rPr>
              <a:t>Adishree Gupta (PES1UG23CS024) · Akshat (PES1UG23CS048)</a:t>
            </a:r>
          </a:p>
          <a:p>
            <a:pPr algn="l">
              <a:spcAft>
                <a:spcPts val="800"/>
              </a:spcAft>
            </a:pPr>
            <a:r>
              <a:rPr sz="1400" b="1">
                <a:solidFill>
                  <a:srgbClr val="14202E"/>
                </a:solidFill>
                <a:latin typeface="Segoe UI"/>
              </a:rPr>
              <a:t>Guide: </a:t>
            </a:r>
            <a:r>
              <a:rPr sz="1400" b="0">
                <a:solidFill>
                  <a:srgbClr val="14202E"/>
                </a:solidFill>
                <a:latin typeface="Segoe UI"/>
              </a:rPr>
              <a:t>Dr. Shylaja S S  ·  PES University  ·  PW26_SSS_08</a:t>
            </a:r>
          </a:p>
        </p:txBody>
      </p:sp>
      <p:sp>
        <p:nvSpPr>
          <p:cNvPr id="26" name="TextBox 25"/>
          <p:cNvSpPr txBox="1"/>
          <p:nvPr/>
        </p:nvSpPr>
        <p:spPr>
          <a:xfrm>
            <a:off x="548640" y="5349240"/>
            <a:ext cx="11247120" cy="594360"/>
          </a:xfrm>
          <a:prstGeom prst="rect">
            <a:avLst/>
          </a:prstGeom>
          <a:noFill/>
        </p:spPr>
        <p:txBody>
          <a:bodyPr wrap="square">
            <a:spAutoFit/>
          </a:bodyPr>
          <a:lstStyle/>
          <a:p>
            <a:pPr algn="l">
              <a:spcAft>
                <a:spcPts val="0"/>
              </a:spcAft>
            </a:pPr>
            <a:r>
              <a:rPr sz="1100" b="0">
                <a:solidFill>
                  <a:srgbClr val="8A939C"/>
                </a:solidFill>
                <a:latin typeface="Segoe UI"/>
              </a:rPr>
              <a:t>Scope: on real TV we tested stated PRICES (‘Nifty is at 22,700’). Personal TRADE claims (‘I bought 500 shares’) do not occur on news TV, so those were tested only on 7 made-up examples. Market record = NSE prices per minute, via the data vendor Yahoo Finance. Unfamiliar word? See the glossary (last slide).</a:t>
            </a:r>
          </a:p>
        </p:txBody>
      </p:sp>
      <p:sp>
        <p:nvSpPr>
          <p:cNvPr id="27" name="Rectangle 26"/>
          <p:cNvSpPr/>
          <p:nvPr/>
        </p:nvSpPr>
        <p:spPr>
          <a:xfrm>
            <a:off x="548640" y="6035040"/>
            <a:ext cx="54864" cy="3200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989320"/>
            <a:ext cx="11109960" cy="411480"/>
          </a:xfrm>
          <a:prstGeom prst="rect">
            <a:avLst/>
          </a:prstGeom>
          <a:noFill/>
        </p:spPr>
        <p:txBody>
          <a:bodyPr wrap="square">
            <a:spAutoFit/>
          </a:bodyPr>
          <a:lstStyle/>
          <a:p>
            <a:r>
              <a:rPr sz="1300" b="1">
                <a:solidFill>
                  <a:srgbClr val="8A5A00"/>
                </a:solidFill>
                <a:latin typeface="Segoe UI"/>
              </a:rPr>
              <a:t>In plain words:  </a:t>
            </a:r>
            <a:r>
              <a:rPr sz="1300" b="0">
                <a:solidFill>
                  <a:srgbClr val="44505E"/>
                </a:solidFill>
                <a:latin typeface="Segoe UI"/>
              </a:rPr>
              <a:t>we read the time from the TV chart itself, look up what the market recorded at that moment, and say fits / impossible / can't tell.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REAL-WORLD MOTIVATION</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1">
                <a:solidFill>
                  <a:srgbClr val="0B5C8E"/>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A wrong number on air looks exactly like a right one</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2</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graphicFrame>
        <p:nvGraphicFramePr>
          <p:cNvPr id="13" name="Table 12"/>
          <p:cNvGraphicFramePr>
            <a:graphicFrameLocks noGrp="1"/>
          </p:cNvGraphicFramePr>
          <p:nvPr/>
        </p:nvGraphicFramePr>
        <p:xfrm>
          <a:off x="548640" y="1508760"/>
          <a:ext cx="11155680" cy="1975104"/>
        </p:xfrm>
        <a:graphic>
          <a:graphicData uri="http://schemas.openxmlformats.org/drawingml/2006/table">
            <a:tbl>
              <a:tblPr firstRow="1" bandRow="1">
                <a:tableStyleId>{5C22544A-7EE6-4342-B048-85BDC9FD1C3A}</a:tableStyleId>
              </a:tblPr>
              <a:tblGrid>
                <a:gridCol w="2560320"/>
                <a:gridCol w="3200400"/>
                <a:gridCol w="3017520"/>
                <a:gridCol w="2377440"/>
              </a:tblGrid>
              <a:tr h="658368">
                <a:tc>
                  <a:txBody>
                    <a:bodyPr wrap="square"/>
                    <a:lstStyle/>
                    <a:p>
                      <a:r>
                        <a:rPr sz="1200" b="1">
                          <a:solidFill>
                            <a:srgbClr val="FFFFFF"/>
                          </a:solidFill>
                          <a:latin typeface="Segoe UI"/>
                        </a:rPr>
                        <a:t>Said or shown on TV</a:t>
                      </a:r>
                    </a:p>
                  </a:txBody>
                  <a:tcPr marL="54864" marR="54864" marT="27432" marB="27432">
                    <a:solidFill>
                      <a:srgbClr val="1F4E79"/>
                    </a:solidFill>
                  </a:tcPr>
                </a:tc>
                <a:tc>
                  <a:txBody>
                    <a:bodyPr wrap="square"/>
                    <a:lstStyle/>
                    <a:p>
                      <a:r>
                        <a:rPr sz="1200" b="1">
                          <a:solidFill>
                            <a:srgbClr val="FFFFFF"/>
                          </a:solidFill>
                          <a:latin typeface="Segoe UI"/>
                        </a:rPr>
                        <a:t>Where and when</a:t>
                      </a:r>
                    </a:p>
                  </a:txBody>
                  <a:tcPr marL="54864" marR="54864" marT="27432" marB="27432">
                    <a:solidFill>
                      <a:srgbClr val="1F4E79"/>
                    </a:solidFill>
                  </a:tcPr>
                </a:tc>
                <a:tc>
                  <a:txBody>
                    <a:bodyPr wrap="square"/>
                    <a:lstStyle/>
                    <a:p>
                      <a:r>
                        <a:rPr sz="1200" b="1">
                          <a:solidFill>
                            <a:srgbClr val="FFFFFF"/>
                          </a:solidFill>
                          <a:latin typeface="Segoe UI"/>
                        </a:rPr>
                        <a:t>What the market recorded</a:t>
                      </a:r>
                    </a:p>
                  </a:txBody>
                  <a:tcPr marL="54864" marR="54864" marT="27432" marB="27432">
                    <a:solidFill>
                      <a:srgbClr val="1F4E79"/>
                    </a:solidFill>
                  </a:tcPr>
                </a:tc>
                <a:tc>
                  <a:txBody>
                    <a:bodyPr wrap="square"/>
                    <a:lstStyle/>
                    <a:p>
                      <a:r>
                        <a:rPr sz="1200" b="1">
                          <a:solidFill>
                            <a:srgbClr val="FFFFFF"/>
                          </a:solidFill>
                          <a:latin typeface="Segoe UI"/>
                        </a:rPr>
                        <a:t>Our answer</a:t>
                      </a:r>
                    </a:p>
                  </a:txBody>
                  <a:tcPr marL="54864" marR="54864" marT="27432" marB="27432">
                    <a:solidFill>
                      <a:srgbClr val="1F4E79"/>
                    </a:solidFill>
                  </a:tcPr>
                </a:tc>
              </a:tr>
              <a:tr h="658368">
                <a:tc>
                  <a:txBody>
                    <a:bodyPr wrap="square"/>
                    <a:lstStyle/>
                    <a:p>
                      <a:r>
                        <a:rPr sz="1200" b="0">
                          <a:solidFill>
                            <a:srgbClr val="14202E"/>
                          </a:solidFill>
                          <a:latin typeface="Segoe UI"/>
                        </a:rPr>
                        <a:t>“Bank Nifty now at 55,150”</a:t>
                      </a:r>
                    </a:p>
                  </a:txBody>
                  <a:tcPr marL="54864" marR="54864" marT="27432" marB="27432">
                    <a:solidFill>
                      <a:srgbClr val="FFFFFF"/>
                    </a:solidFill>
                  </a:tcPr>
                </a:tc>
                <a:tc>
                  <a:txBody>
                    <a:bodyPr wrap="square"/>
                    <a:lstStyle/>
                    <a:p>
                      <a:r>
                        <a:rPr sz="1200" b="0">
                          <a:solidFill>
                            <a:srgbClr val="14202E"/>
                          </a:solidFill>
                          <a:latin typeface="Segoe UI"/>
                        </a:rPr>
                        <a:t>CNBC-TV18, our own recording, 6 Oct 2026, about 13:03</a:t>
                      </a:r>
                    </a:p>
                  </a:txBody>
                  <a:tcPr marL="54864" marR="54864" marT="27432" marB="27432">
                    <a:solidFill>
                      <a:srgbClr val="FFFFFF"/>
                    </a:solidFill>
                  </a:tcPr>
                </a:tc>
                <a:tc>
                  <a:txBody>
                    <a:bodyPr wrap="square"/>
                    <a:lstStyle/>
                    <a:p>
                      <a:r>
                        <a:rPr sz="1200" b="0">
                          <a:solidFill>
                            <a:srgbClr val="14202E"/>
                          </a:solidFill>
                          <a:latin typeface="Segoe UI"/>
                        </a:rPr>
                        <a:t>13:03 minute: 55,114.55 to 55,156.90</a:t>
                      </a:r>
                    </a:p>
                  </a:txBody>
                  <a:tcPr marL="54864" marR="54864" marT="27432" marB="27432">
                    <a:solidFill>
                      <a:srgbClr val="FFFFFF"/>
                    </a:solidFill>
                  </a:tcPr>
                </a:tc>
                <a:tc>
                  <a:txBody>
                    <a:bodyPr wrap="square"/>
                    <a:lstStyle/>
                    <a:p>
                      <a:r>
                        <a:rPr sz="1200" b="0">
                          <a:solidFill>
                            <a:srgbClr val="14202E"/>
                          </a:solidFill>
                          <a:latin typeface="Segoe UI"/>
                        </a:rPr>
                        <a:t>PASS - it fits</a:t>
                      </a:r>
                    </a:p>
                  </a:txBody>
                  <a:tcPr marL="54864" marR="54864" marT="27432" marB="27432">
                    <a:solidFill>
                      <a:srgbClr val="FFFFFF"/>
                    </a:solidFill>
                  </a:tcPr>
                </a:tc>
              </a:tr>
              <a:tr h="658368">
                <a:tc>
                  <a:txBody>
                    <a:bodyPr wrap="square"/>
                    <a:lstStyle/>
                    <a:p>
                      <a:r>
                        <a:rPr sz="1200" b="0">
                          <a:solidFill>
                            <a:srgbClr val="14202E"/>
                          </a:solidFill>
                          <a:latin typeface="Segoe UI"/>
                        </a:rPr>
                        <a:t>“Nifty50 24,616.6” (YouTube's automatic captions)</a:t>
                      </a:r>
                    </a:p>
                  </a:txBody>
                  <a:tcPr marL="54864" marR="54864" marT="27432" marB="27432">
                    <a:solidFill>
                      <a:srgbClr val="F4F6F8"/>
                    </a:solidFill>
                  </a:tcPr>
                </a:tc>
                <a:tc>
                  <a:txBody>
                    <a:bodyPr wrap="square"/>
                    <a:lstStyle/>
                    <a:p>
                      <a:r>
                        <a:rPr sz="1200" b="0">
                          <a:solidFill>
                            <a:srgbClr val="14202E"/>
                          </a:solidFill>
                          <a:latin typeface="Segoe UI"/>
                        </a:rPr>
                        <a:t>NDTV Profit live stream on YouTube, 30 Sep 2026, 15:17:43</a:t>
                      </a:r>
                    </a:p>
                  </a:txBody>
                  <a:tcPr marL="54864" marR="54864" marT="27432" marB="27432">
                    <a:solidFill>
                      <a:srgbClr val="F4F6F8"/>
                    </a:solidFill>
                  </a:tcPr>
                </a:tc>
                <a:tc>
                  <a:txBody>
                    <a:bodyPr wrap="square"/>
                    <a:lstStyle/>
                    <a:p>
                      <a:r>
                        <a:rPr sz="1200" b="0">
                          <a:solidFill>
                            <a:srgbClr val="14202E"/>
                          </a:solidFill>
                          <a:latin typeface="Segoe UI"/>
                        </a:rPr>
                        <a:t>15:16–15:19: 22,616.6 (whole day: 22,595–22,809)</a:t>
                      </a:r>
                    </a:p>
                  </a:txBody>
                  <a:tcPr marL="54864" marR="54864" marT="27432" marB="27432">
                    <a:solidFill>
                      <a:srgbClr val="F4F6F8"/>
                    </a:solidFill>
                  </a:tcPr>
                </a:tc>
                <a:tc>
                  <a:txBody>
                    <a:bodyPr wrap="square"/>
                    <a:lstStyle/>
                    <a:p>
                      <a:r>
                        <a:rPr sz="1200" b="0">
                          <a:solidFill>
                            <a:srgbClr val="14202E"/>
                          </a:solidFill>
                          <a:latin typeface="Segoe UI"/>
                        </a:rPr>
                        <a:t>FAIL - impossible; one digit off, so a caption error or slip of the tongue</a:t>
                      </a:r>
                    </a:p>
                  </a:txBody>
                  <a:tcPr marL="54864" marR="54864" marT="27432" marB="27432">
                    <a:solidFill>
                      <a:srgbClr val="F4F6F8"/>
                    </a:solidFill>
                  </a:tcPr>
                </a:tc>
              </a:tr>
            </a:tbl>
          </a:graphicData>
        </a:graphic>
      </p:graphicFrame>
      <p:sp>
        <p:nvSpPr>
          <p:cNvPr id="14" name="Rounded Rectangle 13"/>
          <p:cNvSpPr/>
          <p:nvPr/>
        </p:nvSpPr>
        <p:spPr>
          <a:xfrm>
            <a:off x="548640" y="3749039"/>
            <a:ext cx="3566160" cy="5486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Viewers act on these numbers</a:t>
            </a:r>
          </a:p>
        </p:txBody>
      </p:sp>
      <p:sp>
        <p:nvSpPr>
          <p:cNvPr id="15" name="Rounded Rectangle 14"/>
          <p:cNvSpPr/>
          <p:nvPr/>
        </p:nvSpPr>
        <p:spPr>
          <a:xfrm>
            <a:off x="548640" y="4343400"/>
            <a:ext cx="3566160" cy="109728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checking by hand needs the exact minute, the exact stock or index, and how the speaker rounded</a:t>
            </a:r>
          </a:p>
        </p:txBody>
      </p:sp>
      <p:sp>
        <p:nvSpPr>
          <p:cNvPr id="16" name="Rounded Rectangle 15"/>
          <p:cNvSpPr/>
          <p:nvPr/>
        </p:nvSpPr>
        <p:spPr>
          <a:xfrm>
            <a:off x="4297679" y="3749039"/>
            <a:ext cx="3566160" cy="5486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Even our own first version got it wrong</a:t>
            </a:r>
          </a:p>
        </p:txBody>
      </p:sp>
      <p:sp>
        <p:nvSpPr>
          <p:cNvPr id="17" name="Rounded Rectangle 16"/>
          <p:cNvSpPr/>
          <p:nvPr/>
        </p:nvSpPr>
        <p:spPr>
          <a:xfrm>
            <a:off x="4297679" y="4343400"/>
            <a:ext cx="3566160" cy="109728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of 37 statements it called ‘impossible’, 36 were not - careless checking accuses honest speakers (slide 11)</a:t>
            </a:r>
          </a:p>
        </p:txBody>
      </p:sp>
      <p:sp>
        <p:nvSpPr>
          <p:cNvPr id="18" name="Rounded Rectangle 17"/>
          <p:cNvSpPr/>
          <p:nvPr/>
        </p:nvSpPr>
        <p:spPr>
          <a:xfrm>
            <a:off x="8046719" y="3749039"/>
            <a:ext cx="3566160" cy="5486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Regulation now depends on it</a:t>
            </a:r>
          </a:p>
        </p:txBody>
      </p:sp>
      <p:sp>
        <p:nvSpPr>
          <p:cNvPr id="19" name="Rounded Rectangle 18"/>
          <p:cNvSpPr/>
          <p:nvPr/>
        </p:nvSpPr>
        <p:spPr>
          <a:xfrm>
            <a:off x="8046719" y="4343400"/>
            <a:ext cx="3566160" cy="109728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SEBI rule from 1 Jul 2026: someone who only teaches about stocks must not use prices from the last 30 days when recommending one - so the age of prices shown in a video matters</a:t>
            </a:r>
          </a:p>
        </p:txBody>
      </p:sp>
      <p:sp>
        <p:nvSpPr>
          <p:cNvPr id="20" name="Rectangle 19"/>
          <p:cNvSpPr/>
          <p:nvPr/>
        </p:nvSpPr>
        <p:spPr>
          <a:xfrm>
            <a:off x="548640" y="5806440"/>
            <a:ext cx="54864" cy="4114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760720"/>
            <a:ext cx="11018519" cy="502920"/>
          </a:xfrm>
          <a:prstGeom prst="rect">
            <a:avLst/>
          </a:prstGeom>
          <a:noFill/>
        </p:spPr>
        <p:txBody>
          <a:bodyPr wrap="square">
            <a:spAutoFit/>
          </a:bodyPr>
          <a:lstStyle/>
          <a:p>
            <a:r>
              <a:rPr sz="1300" b="1">
                <a:solidFill>
                  <a:srgbClr val="8A5A00"/>
                </a:solidFill>
                <a:latin typeface="Segoe UI"/>
              </a:rPr>
              <a:t>In plain words:  </a:t>
            </a:r>
            <a:r>
              <a:rPr sz="1300" b="0">
                <a:solidFill>
                  <a:srgbClr val="44505E"/>
                </a:solidFill>
                <a:latin typeface="Segoe UI"/>
              </a:rPr>
              <a:t>a commentator says ‘Kohli is on 87’ - you check the scoreboard. Markets keep a scoreboard too; we check videos against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PROBLEM STATEMENT</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1">
                <a:solidFill>
                  <a:srgbClr val="0B5C8E"/>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200" b="1">
                <a:solidFill>
                  <a:srgbClr val="14202E"/>
                </a:solidFill>
                <a:latin typeface="Segoe UI"/>
              </a:rPr>
              <a:t>The task: for every claim, is it possible, impossible, or can't we tell?</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3</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Rounded Rectangle 12"/>
          <p:cNvSpPr/>
          <p:nvPr/>
        </p:nvSpPr>
        <p:spPr>
          <a:xfrm>
            <a:off x="548640" y="1463040"/>
            <a:ext cx="822960" cy="50292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Segoe UI"/>
              </a:rPr>
              <a:t>In</a:t>
            </a:r>
          </a:p>
        </p:txBody>
      </p:sp>
      <p:sp>
        <p:nvSpPr>
          <p:cNvPr id="14" name="Rounded Rectangle 13"/>
          <p:cNvSpPr/>
          <p:nvPr/>
        </p:nvSpPr>
        <p:spPr>
          <a:xfrm>
            <a:off x="1463040" y="1463040"/>
            <a:ext cx="5760720" cy="50292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the video  +  the market's minute-by-minute record  +  the publishing date (used only by TENURE)</a:t>
            </a:r>
          </a:p>
        </p:txBody>
      </p:sp>
      <p:sp>
        <p:nvSpPr>
          <p:cNvPr id="15" name="Rounded Rectangle 14"/>
          <p:cNvSpPr/>
          <p:nvPr/>
        </p:nvSpPr>
        <p:spPr>
          <a:xfrm>
            <a:off x="548640" y="2057400"/>
            <a:ext cx="822960" cy="50292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Segoe UI"/>
              </a:rPr>
              <a:t>Out</a:t>
            </a:r>
          </a:p>
        </p:txBody>
      </p:sp>
      <p:sp>
        <p:nvSpPr>
          <p:cNvPr id="16" name="Rounded Rectangle 15"/>
          <p:cNvSpPr/>
          <p:nvPr/>
        </p:nvSpPr>
        <p:spPr>
          <a:xfrm>
            <a:off x="1463040" y="2057400"/>
            <a:ext cx="5760720" cy="50292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for every claim: three answers (PASS / FAIL / ABSTAIN) + the evidence behind each</a:t>
            </a:r>
          </a:p>
        </p:txBody>
      </p:sp>
      <p:sp>
        <p:nvSpPr>
          <p:cNvPr id="17" name="Rounded Rectangle 16"/>
          <p:cNvSpPr/>
          <p:nvPr/>
        </p:nvSpPr>
        <p:spPr>
          <a:xfrm>
            <a:off x="548640" y="2651760"/>
            <a:ext cx="822960" cy="502920"/>
          </a:xfrm>
          <a:prstGeom prst="roundRect">
            <a:avLst>
              <a:gd name="adj" fmla="val 6000"/>
            </a:avLst>
          </a:prstGeom>
          <a:solidFill>
            <a:srgbClr val="A3282F"/>
          </a:solidFill>
          <a:ln w="15875">
            <a:solidFill>
              <a:srgbClr val="A3282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Segoe UI"/>
              </a:rPr>
              <a:t>Rule</a:t>
            </a:r>
          </a:p>
        </p:txBody>
      </p:sp>
      <p:sp>
        <p:nvSpPr>
          <p:cNvPr id="18" name="Rounded Rectangle 17"/>
          <p:cNvSpPr/>
          <p:nvPr/>
        </p:nvSpPr>
        <p:spPr>
          <a:xfrm>
            <a:off x="1463040" y="2651760"/>
            <a:ext cx="5760720" cy="50292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say FAIL only if the claim is impossible however it is sensibly read</a:t>
            </a:r>
          </a:p>
        </p:txBody>
      </p:sp>
      <p:sp>
        <p:nvSpPr>
          <p:cNvPr id="19" name="TextBox 18"/>
          <p:cNvSpPr txBox="1"/>
          <p:nvPr/>
        </p:nvSpPr>
        <p:spPr>
          <a:xfrm>
            <a:off x="548640" y="3291840"/>
            <a:ext cx="6675120" cy="320040"/>
          </a:xfrm>
          <a:prstGeom prst="rect">
            <a:avLst/>
          </a:prstGeom>
          <a:noFill/>
        </p:spPr>
        <p:txBody>
          <a:bodyPr wrap="square">
            <a:spAutoFit/>
          </a:bodyPr>
          <a:lstStyle/>
          <a:p>
            <a:pPr algn="l">
              <a:spcAft>
                <a:spcPts val="0"/>
              </a:spcAft>
            </a:pPr>
            <a:r>
              <a:rPr sz="1300" b="1">
                <a:solidFill>
                  <a:srgbClr val="0B5C8E"/>
                </a:solidFill>
                <a:latin typeface="Segoe UI"/>
              </a:rPr>
              <a:t>The three checks - ‘the 3 T's’ (app names in brackets, used on slide 13)</a:t>
            </a:r>
          </a:p>
        </p:txBody>
      </p:sp>
      <p:sp>
        <p:nvSpPr>
          <p:cNvPr id="20" name="Rounded Rectangle 19"/>
          <p:cNvSpPr/>
          <p:nvPr/>
        </p:nvSpPr>
        <p:spPr>
          <a:xfrm>
            <a:off x="548640" y="3657600"/>
            <a:ext cx="1371600" cy="512064"/>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TRADE</a:t>
            </a:r>
          </a:p>
        </p:txBody>
      </p:sp>
      <p:sp>
        <p:nvSpPr>
          <p:cNvPr id="21" name="Rounded Rectangle 20"/>
          <p:cNvSpPr/>
          <p:nvPr/>
        </p:nvSpPr>
        <p:spPr>
          <a:xfrm>
            <a:off x="2011680" y="3657600"/>
            <a:ext cx="5212080" cy="512064"/>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could that many shares have changed hands at that price, that day, on NSE?  (app: ‘Fill conservation’)</a:t>
            </a:r>
          </a:p>
        </p:txBody>
      </p:sp>
      <p:sp>
        <p:nvSpPr>
          <p:cNvPr id="22" name="Rounded Rectangle 21"/>
          <p:cNvSpPr/>
          <p:nvPr/>
        </p:nvSpPr>
        <p:spPr>
          <a:xfrm>
            <a:off x="548640" y="4261104"/>
            <a:ext cx="1371600" cy="512064"/>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TIMING</a:t>
            </a:r>
          </a:p>
        </p:txBody>
      </p:sp>
      <p:sp>
        <p:nvSpPr>
          <p:cNvPr id="23" name="Rounded Rectangle 22"/>
          <p:cNvSpPr/>
          <p:nvPr/>
        </p:nvSpPr>
        <p:spPr>
          <a:xfrm>
            <a:off x="2011680" y="4261104"/>
            <a:ext cx="5212080" cy="512064"/>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was the stated price within what the market recorded just before it was said?  (app: ‘Knowability’)</a:t>
            </a:r>
          </a:p>
        </p:txBody>
      </p:sp>
      <p:sp>
        <p:nvSpPr>
          <p:cNvPr id="24" name="Rounded Rectangle 23"/>
          <p:cNvSpPr/>
          <p:nvPr/>
        </p:nvSpPr>
        <p:spPr>
          <a:xfrm>
            <a:off x="548640" y="4864608"/>
            <a:ext cx="1371600" cy="512064"/>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TENURE</a:t>
            </a:r>
          </a:p>
        </p:txBody>
      </p:sp>
      <p:sp>
        <p:nvSpPr>
          <p:cNvPr id="25" name="Rounded Rectangle 24"/>
          <p:cNvSpPr/>
          <p:nvPr/>
        </p:nvSpPr>
        <p:spPr>
          <a:xfrm>
            <a:off x="2011680" y="4864608"/>
            <a:ext cx="5212080" cy="512064"/>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 data age) was the price data at least 30 days old? SEBI wants teachers to use OLD prices, so lessons are not live tips  (app: ‘Data age’)</a:t>
            </a:r>
          </a:p>
        </p:txBody>
      </p:sp>
      <p:sp>
        <p:nvSpPr>
          <p:cNvPr id="26" name="Rounded Rectangle 25"/>
          <p:cNvSpPr/>
          <p:nvPr/>
        </p:nvSpPr>
        <p:spPr>
          <a:xfrm>
            <a:off x="7498079" y="1463040"/>
            <a:ext cx="4297680" cy="457200"/>
          </a:xfrm>
          <a:prstGeom prst="roundRect">
            <a:avLst>
              <a:gd name="adj" fmla="val 6000"/>
            </a:avLst>
          </a:prstGeom>
          <a:solidFill>
            <a:srgbClr val="A3282F"/>
          </a:solidFill>
          <a:ln w="15875">
            <a:solidFill>
              <a:srgbClr val="A3282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A price claim gets FAIL only if ALL four hold</a:t>
            </a:r>
          </a:p>
        </p:txBody>
      </p:sp>
      <p:sp>
        <p:nvSpPr>
          <p:cNvPr id="27" name="TextBox 26"/>
          <p:cNvSpPr txBox="1"/>
          <p:nvPr/>
        </p:nvSpPr>
        <p:spPr>
          <a:xfrm>
            <a:off x="7498079" y="1965960"/>
            <a:ext cx="4297680" cy="3383280"/>
          </a:xfrm>
          <a:prstGeom prst="rect">
            <a:avLst/>
          </a:prstGeom>
          <a:noFill/>
        </p:spPr>
        <p:txBody>
          <a:bodyPr wrap="square">
            <a:spAutoFit/>
          </a:bodyPr>
          <a:lstStyle/>
          <a:p>
            <a:pPr algn="l">
              <a:spcAft>
                <a:spcPts val="800"/>
              </a:spcAft>
            </a:pPr>
            <a:r>
              <a:rPr sz="1200" b="1">
                <a:solidFill>
                  <a:srgbClr val="14202E"/>
                </a:solidFill>
                <a:latin typeface="Segoe UI"/>
              </a:rPr>
              <a:t>1  Complete data: </a:t>
            </a:r>
            <a:r>
              <a:rPr sz="1200" b="0">
                <a:solidFill>
                  <a:srgbClr val="14202E"/>
                </a:solidFill>
                <a:latin typeface="Segoe UI"/>
              </a:rPr>
              <a:t>at least 90 % of the minutes checked have records (gaps could hide the price)</a:t>
            </a:r>
          </a:p>
          <a:p>
            <a:pPr algn="l">
              <a:spcAft>
                <a:spcPts val="800"/>
              </a:spcAft>
            </a:pPr>
            <a:r>
              <a:rPr sz="1200" b="1">
                <a:solidFill>
                  <a:srgbClr val="14202E"/>
                </a:solidFill>
                <a:latin typeface="Segoe UI"/>
              </a:rPr>
              <a:t>2  Clear claim: </a:t>
            </a:r>
            <a:r>
              <a:rPr sz="1200" b="0">
                <a:solidFill>
                  <a:srgbClr val="14202E"/>
                </a:solidFill>
                <a:latin typeface="Segoe UI"/>
              </a:rPr>
              <a:t>the stock or index is named in the same sentence and the number is stated as its price NOW - not a target, a support level, an old purchase, a prediction, or a number the speaker corrected (‘23,000 - sorry, 22,672’)</a:t>
            </a:r>
          </a:p>
          <a:p>
            <a:pPr algn="l">
              <a:spcAft>
                <a:spcPts val="800"/>
              </a:spcAft>
            </a:pPr>
            <a:r>
              <a:rPr sz="1200" b="1">
                <a:solidFill>
                  <a:srgbClr val="14202E"/>
                </a:solidFill>
                <a:latin typeface="Segoe UI"/>
              </a:rPr>
              <a:t>3  Every reading fails: </a:t>
            </a:r>
            <a:r>
              <a:rPr sz="1200" b="0">
                <a:solidFill>
                  <a:srgbClr val="14202E"/>
                </a:solidFill>
                <a:latin typeface="Segoe UI"/>
              </a:rPr>
              <a:t>the number is outside what was recorded, whichever stock, rounding or meaning a listener could take</a:t>
            </a:r>
          </a:p>
          <a:p>
            <a:pPr algn="l">
              <a:spcAft>
                <a:spcPts val="800"/>
              </a:spcAft>
            </a:pPr>
            <a:r>
              <a:rPr sz="1200" b="1">
                <a:solidFill>
                  <a:srgbClr val="14202E"/>
                </a:solidFill>
                <a:latin typeface="Segoe UI"/>
              </a:rPr>
              <a:t>4  Bigger than data noise: </a:t>
            </a:r>
            <a:r>
              <a:rPr sz="1200" b="0">
                <a:solidFill>
                  <a:srgbClr val="14202E"/>
                </a:solidFill>
                <a:latin typeface="Segoe UI"/>
              </a:rPr>
              <a:t>data providers report a day's high or low slightly differently; differences under 0.25 % are treated as noise</a:t>
            </a:r>
          </a:p>
          <a:p>
            <a:pPr algn="l">
              <a:spcAft>
                <a:spcPts val="800"/>
              </a:spcAft>
            </a:pPr>
            <a:r>
              <a:rPr sz="1200" b="1">
                <a:solidFill>
                  <a:srgbClr val="14202E"/>
                </a:solidFill>
                <a:latin typeface="Segoe UI"/>
              </a:rPr>
              <a:t>Otherwise → ABSTAIN.</a:t>
            </a:r>
            <a:r>
              <a:rPr sz="1200" b="0">
                <a:solidFill>
                  <a:srgbClr val="14202E"/>
                </a:solidFill>
                <a:latin typeface="Segoe UI"/>
              </a:rPr>
              <a:t> TRADE also fails if the market was closed or more shares are claimed than traded; TENURE never fails.</a:t>
            </a:r>
          </a:p>
        </p:txBody>
      </p:sp>
      <p:sp>
        <p:nvSpPr>
          <p:cNvPr id="28" name="Rounded Rectangle 27"/>
          <p:cNvSpPr/>
          <p:nvPr/>
        </p:nvSpPr>
        <p:spPr>
          <a:xfrm>
            <a:off x="548640" y="5532120"/>
            <a:ext cx="11247120" cy="384048"/>
          </a:xfrm>
          <a:prstGeom prst="roundRect">
            <a:avLst>
              <a:gd name="adj" fmla="val 6000"/>
            </a:avLst>
          </a:prstGeom>
          <a:solidFill>
            <a:srgbClr val="F8E4E4"/>
          </a:solidFill>
          <a:ln w="15875">
            <a:solidFill>
              <a:srgbClr val="F8E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A3282F"/>
                </a:solidFill>
                <a:latin typeface="Segoe UI"/>
              </a:rPr>
              <a:t>Each check is answered separately (any FAIL = the claim is impossible). Never decided: who traded · whether the video is genuine · whether anyone broke the law</a:t>
            </a:r>
          </a:p>
        </p:txBody>
      </p:sp>
      <p:sp>
        <p:nvSpPr>
          <p:cNvPr id="29" name="Rectangle 28"/>
          <p:cNvSpPr/>
          <p:nvPr/>
        </p:nvSpPr>
        <p:spPr>
          <a:xfrm>
            <a:off x="548640" y="6007607"/>
            <a:ext cx="54864" cy="3200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961888"/>
            <a:ext cx="11109960" cy="411480"/>
          </a:xfrm>
          <a:prstGeom prst="rect">
            <a:avLst/>
          </a:prstGeom>
          <a:noFill/>
        </p:spPr>
        <p:txBody>
          <a:bodyPr wrap="square">
            <a:spAutoFit/>
          </a:bodyPr>
          <a:lstStyle/>
          <a:p>
            <a:r>
              <a:rPr sz="1300" b="1">
                <a:solidFill>
                  <a:srgbClr val="8A5A00"/>
                </a:solidFill>
                <a:latin typeface="Segoe UI"/>
              </a:rPr>
              <a:t>In plain words:  </a:t>
            </a:r>
            <a:r>
              <a:rPr sz="1300" b="0">
                <a:solidFill>
                  <a:srgbClr val="44505E"/>
                </a:solidFill>
                <a:latin typeface="Segoe UI"/>
              </a:rPr>
              <a:t>we only say ‘impossible’ when every sensible way of reading the sentence fails.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RESEARCH GAP AND EXISTING WORK</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1">
                <a:solidFill>
                  <a:srgbClr val="0B5C8E"/>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000" b="1">
                <a:solidFill>
                  <a:srgbClr val="14202E"/>
                </a:solidFill>
                <a:latin typeface="Segoe UI"/>
              </a:rPr>
              <a:t>No earlier method both dates a video from its own screen and checks it carefully</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4</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graphicFrame>
        <p:nvGraphicFramePr>
          <p:cNvPr id="13" name="Table 12"/>
          <p:cNvGraphicFramePr>
            <a:graphicFrameLocks noGrp="1"/>
          </p:cNvGraphicFramePr>
          <p:nvPr/>
        </p:nvGraphicFramePr>
        <p:xfrm>
          <a:off x="548640" y="1463040"/>
          <a:ext cx="11155680" cy="3374136"/>
        </p:xfrm>
        <a:graphic>
          <a:graphicData uri="http://schemas.openxmlformats.org/drawingml/2006/table">
            <a:tbl>
              <a:tblPr firstRow="1" bandRow="1">
                <a:tableStyleId>{5C22544A-7EE6-4342-B048-85BDC9FD1C3A}</a:tableStyleId>
              </a:tblPr>
              <a:tblGrid>
                <a:gridCol w="4297680"/>
                <a:gridCol w="1371600"/>
                <a:gridCol w="1371600"/>
                <a:gridCol w="1371600"/>
                <a:gridCol w="1371600"/>
                <a:gridCol w="1371600"/>
              </a:tblGrid>
              <a:tr h="374904">
                <a:tc>
                  <a:txBody>
                    <a:bodyPr wrap="square"/>
                    <a:lstStyle/>
                    <a:p>
                      <a:r>
                        <a:rPr sz="1050" b="1">
                          <a:solidFill>
                            <a:srgbClr val="FFFFFF"/>
                          </a:solidFill>
                          <a:latin typeface="Segoe UI"/>
                        </a:rPr>
                        <a:t>Earlier research (numbers = references, slide 15)</a:t>
                      </a:r>
                    </a:p>
                  </a:txBody>
                  <a:tcPr marL="54864" marR="54864" marT="27432" marB="27432">
                    <a:solidFill>
                      <a:srgbClr val="1F4E79"/>
                    </a:solidFill>
                  </a:tcPr>
                </a:tc>
                <a:tc>
                  <a:txBody>
                    <a:bodyPr wrap="square"/>
                    <a:lstStyle/>
                    <a:p>
                      <a:pPr algn="ctr"/>
                      <a:r>
                        <a:rPr sz="1050" b="1">
                          <a:solidFill>
                            <a:srgbClr val="FFFFFF"/>
                          </a:solidFill>
                          <a:latin typeface="Segoe UI"/>
                        </a:rPr>
                        <a:t>Facts that change minute to minute</a:t>
                      </a:r>
                    </a:p>
                  </a:txBody>
                  <a:tcPr marL="54864" marR="54864" marT="27432" marB="27432">
                    <a:solidFill>
                      <a:srgbClr val="1F4E79"/>
                    </a:solidFill>
                  </a:tcPr>
                </a:tc>
                <a:tc>
                  <a:txBody>
                    <a:bodyPr wrap="square"/>
                    <a:lstStyle/>
                    <a:p>
                      <a:pPr algn="ctr"/>
                      <a:r>
                        <a:rPr sz="1050" b="1">
                          <a:solidFill>
                            <a:srgbClr val="FFFFFF"/>
                          </a:solidFill>
                          <a:latin typeface="Segoe UI"/>
                        </a:rPr>
                        <a:t>Works out WHEN the video was made</a:t>
                      </a:r>
                    </a:p>
                  </a:txBody>
                  <a:tcPr marL="54864" marR="54864" marT="27432" marB="27432">
                    <a:solidFill>
                      <a:srgbClr val="1F4E79"/>
                    </a:solidFill>
                  </a:tcPr>
                </a:tc>
                <a:tc>
                  <a:txBody>
                    <a:bodyPr wrap="square"/>
                    <a:lstStyle/>
                    <a:p>
                      <a:pPr algn="ctr"/>
                      <a:r>
                        <a:rPr sz="1050" b="1">
                          <a:solidFill>
                            <a:srgbClr val="FFFFFF"/>
                          </a:solidFill>
                          <a:latin typeface="Segoe UI"/>
                        </a:rPr>
                        <a:t>Can say ‘cannot tell’</a:t>
                      </a:r>
                    </a:p>
                  </a:txBody>
                  <a:tcPr marL="54864" marR="54864" marT="27432" marB="27432">
                    <a:solidFill>
                      <a:srgbClr val="1F4E79"/>
                    </a:solidFill>
                  </a:tcPr>
                </a:tc>
                <a:tc>
                  <a:txBody>
                    <a:bodyPr wrap="square"/>
                    <a:lstStyle/>
                    <a:p>
                      <a:pPr algn="ctr"/>
                      <a:r>
                        <a:rPr sz="1050" b="1">
                          <a:solidFill>
                            <a:srgbClr val="FFFFFF"/>
                          </a:solidFill>
                          <a:latin typeface="Segoe UI"/>
                        </a:rPr>
                        <a:t>Uses stock-market data</a:t>
                      </a:r>
                    </a:p>
                  </a:txBody>
                  <a:tcPr marL="54864" marR="54864" marT="27432" marB="27432">
                    <a:solidFill>
                      <a:srgbClr val="1F4E79"/>
                    </a:solidFill>
                  </a:tcPr>
                </a:tc>
                <a:tc>
                  <a:txBody>
                    <a:bodyPr wrap="square"/>
                    <a:lstStyle/>
                    <a:p>
                      <a:pPr algn="ctr"/>
                      <a:r>
                        <a:rPr sz="1050" b="1">
                          <a:solidFill>
                            <a:srgbClr val="FFFFFF"/>
                          </a:solidFill>
                          <a:latin typeface="Segoe UI"/>
                        </a:rPr>
                        <a:t>Works on video</a:t>
                      </a:r>
                    </a:p>
                  </a:txBody>
                  <a:tcPr marL="54864" marR="54864" marT="27432" marB="27432">
                    <a:solidFill>
                      <a:srgbClr val="1F4E79"/>
                    </a:solidFill>
                  </a:tcPr>
                </a:tc>
              </a:tr>
              <a:tr h="374904">
                <a:tc>
                  <a:txBody>
                    <a:bodyPr wrap="square"/>
                    <a:lstStyle/>
                    <a:p>
                      <a:r>
                        <a:rPr sz="1050" b="0">
                          <a:solidFill>
                            <a:srgbClr val="14202E"/>
                          </a:solidFill>
                          <a:latin typeface="Segoe UI"/>
                        </a:rPr>
                        <a:t>Fact-checkers [1–3] - check a sentence against Wikipedia or a table</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partly</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r>
              <a:tr h="374904">
                <a:tc>
                  <a:txBody>
                    <a:bodyPr wrap="square"/>
                    <a:lstStyle/>
                    <a:p>
                      <a:r>
                        <a:rPr sz="1050" b="0">
                          <a:solidFill>
                            <a:srgbClr val="14202E"/>
                          </a:solidFill>
                          <a:latin typeface="Segoe UI"/>
                        </a:rPr>
                        <a:t>Number fact-checker [4] - checks numbers in news text</a:t>
                      </a:r>
                    </a:p>
                  </a:txBody>
                  <a:tcPr marL="54864" marR="54864" marT="27432" marB="27432">
                    <a:solidFill>
                      <a:srgbClr val="F4F6F8"/>
                    </a:solidFill>
                  </a:tcPr>
                </a:tc>
                <a:tc>
                  <a:txBody>
                    <a:bodyPr wrap="square"/>
                    <a:lstStyle/>
                    <a:p>
                      <a:pPr algn="ctr"/>
                      <a:r>
                        <a:rPr sz="1050" b="0">
                          <a:solidFill>
                            <a:srgbClr val="14202E"/>
                          </a:solidFill>
                          <a:latin typeface="Segoe UI"/>
                        </a:rPr>
                        <a:t>partly</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r>
              <a:tr h="374904">
                <a:tc>
                  <a:txBody>
                    <a:bodyPr wrap="square"/>
                    <a:lstStyle/>
                    <a:p>
                      <a:r>
                        <a:rPr sz="1050" b="0">
                          <a:solidFill>
                            <a:srgbClr val="14202E"/>
                          </a:solidFill>
                          <a:latin typeface="Segoe UI"/>
                        </a:rPr>
                        <a:t>Fake-photo detector [5] - spots a photo used with the wrong caption</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partly</a:t>
                      </a:r>
                    </a:p>
                  </a:txBody>
                  <a:tcPr marL="54864" marR="54864" marT="27432" marB="27432">
                    <a:solidFill>
                      <a:srgbClr val="FFFFFF"/>
                    </a:solidFill>
                  </a:tcPr>
                </a:tc>
              </a:tr>
              <a:tr h="374904">
                <a:tc>
                  <a:txBody>
                    <a:bodyPr wrap="square"/>
                    <a:lstStyle/>
                    <a:p>
                      <a:r>
                        <a:rPr sz="1050" b="0">
                          <a:solidFill>
                            <a:srgbClr val="14202E"/>
                          </a:solidFill>
                          <a:latin typeface="Segoe UI"/>
                        </a:rPr>
                        <a:t>Electric-hum dating [9] - dates audio from the grid hum in it (closest idea)</a:t>
                      </a:r>
                    </a:p>
                  </a:txBody>
                  <a:tcPr marL="54864" marR="54864" marT="27432" marB="27432">
                    <a:solidFill>
                      <a:srgbClr val="F4F6F8"/>
                    </a:solidFill>
                  </a:tcPr>
                </a:tc>
                <a:tc>
                  <a:txBody>
                    <a:bodyPr wrap="square"/>
                    <a:lstStyle/>
                    <a:p>
                      <a:pPr algn="ctr"/>
                      <a:r>
                        <a:rPr sz="1050" b="0">
                          <a:solidFill>
                            <a:srgbClr val="14202E"/>
                          </a:solidFill>
                          <a:latin typeface="Segoe UI"/>
                        </a:rPr>
                        <a:t>yes</a:t>
                      </a:r>
                    </a:p>
                  </a:txBody>
                  <a:tcPr marL="54864" marR="54864" marT="27432" marB="27432">
                    <a:solidFill>
                      <a:srgbClr val="F4F6F8"/>
                    </a:solidFill>
                  </a:tcPr>
                </a:tc>
                <a:tc>
                  <a:txBody>
                    <a:bodyPr wrap="square"/>
                    <a:lstStyle/>
                    <a:p>
                      <a:pPr algn="ctr"/>
                      <a:r>
                        <a:rPr sz="1050" b="0">
                          <a:solidFill>
                            <a:srgbClr val="14202E"/>
                          </a:solidFill>
                          <a:latin typeface="Segoe UI"/>
                        </a:rPr>
                        <a:t>yes</a:t>
                      </a:r>
                    </a:p>
                  </a:txBody>
                  <a:tcPr marL="54864" marR="54864" marT="27432" marB="27432">
                    <a:solidFill>
                      <a:srgbClr val="F4F6F8"/>
                    </a:solidFill>
                  </a:tcPr>
                </a:tc>
                <a:tc>
                  <a:txBody>
                    <a:bodyPr wrap="square"/>
                    <a:lstStyle/>
                    <a:p>
                      <a:pPr algn="ctr"/>
                      <a:r>
                        <a:rPr sz="1050" b="0">
                          <a:solidFill>
                            <a:srgbClr val="14202E"/>
                          </a:solidFill>
                          <a:latin typeface="Segoe UI"/>
                        </a:rPr>
                        <a:t>partly</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c>
                  <a:txBody>
                    <a:bodyPr wrap="square"/>
                    <a:lstStyle/>
                    <a:p>
                      <a:pPr algn="ctr"/>
                      <a:r>
                        <a:rPr sz="1050" b="0">
                          <a:solidFill>
                            <a:srgbClr val="14202E"/>
                          </a:solidFill>
                          <a:latin typeface="Segoe UI"/>
                        </a:rPr>
                        <a:t>yes</a:t>
                      </a:r>
                    </a:p>
                  </a:txBody>
                  <a:tcPr marL="54864" marR="54864" marT="27432" marB="27432">
                    <a:solidFill>
                      <a:srgbClr val="F4F6F8"/>
                    </a:solidFill>
                  </a:tcPr>
                </a:tc>
              </a:tr>
              <a:tr h="374904">
                <a:tc>
                  <a:txBody>
                    <a:bodyPr wrap="square"/>
                    <a:lstStyle/>
                    <a:p>
                      <a:r>
                        <a:rPr sz="1050" b="0">
                          <a:solidFill>
                            <a:srgbClr val="14202E"/>
                          </a:solidFill>
                          <a:latin typeface="Segoe UI"/>
                        </a:rPr>
                        <a:t>Chart readers [10, 11] - turn a chart image into numbers</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partly</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r>
              <a:tr h="374904">
                <a:tc>
                  <a:txBody>
                    <a:bodyPr wrap="square"/>
                    <a:lstStyle/>
                    <a:p>
                      <a:r>
                        <a:rPr sz="1050" b="0">
                          <a:solidFill>
                            <a:srgbClr val="14202E"/>
                          </a:solidFill>
                          <a:latin typeface="Segoe UI"/>
                        </a:rPr>
                        <a:t>Time-series matching [12] - lines up two series, one best guess</a:t>
                      </a:r>
                    </a:p>
                  </a:txBody>
                  <a:tcPr marL="54864" marR="54864" marT="27432" marB="27432">
                    <a:solidFill>
                      <a:srgbClr val="F4F6F8"/>
                    </a:solidFill>
                  </a:tcPr>
                </a:tc>
                <a:tc>
                  <a:txBody>
                    <a:bodyPr wrap="square"/>
                    <a:lstStyle/>
                    <a:p>
                      <a:pPr algn="ctr"/>
                      <a:r>
                        <a:rPr sz="1050" b="0">
                          <a:solidFill>
                            <a:srgbClr val="14202E"/>
                          </a:solidFill>
                          <a:latin typeface="Segoe UI"/>
                        </a:rPr>
                        <a:t>yes</a:t>
                      </a:r>
                    </a:p>
                  </a:txBody>
                  <a:tcPr marL="54864" marR="54864" marT="27432" marB="27432">
                    <a:solidFill>
                      <a:srgbClr val="F4F6F8"/>
                    </a:solidFill>
                  </a:tcPr>
                </a:tc>
                <a:tc>
                  <a:txBody>
                    <a:bodyPr wrap="square"/>
                    <a:lstStyle/>
                    <a:p>
                      <a:pPr algn="ctr"/>
                      <a:r>
                        <a:rPr sz="1050" b="0">
                          <a:solidFill>
                            <a:srgbClr val="14202E"/>
                          </a:solidFill>
                          <a:latin typeface="Segoe UI"/>
                        </a:rPr>
                        <a:t>partly</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c>
                  <a:txBody>
                    <a:bodyPr wrap="square"/>
                    <a:lstStyle/>
                    <a:p>
                      <a:pPr algn="ctr"/>
                      <a:r>
                        <a:rPr sz="1050" b="0">
                          <a:solidFill>
                            <a:srgbClr val="14202E"/>
                          </a:solidFill>
                          <a:latin typeface="Segoe UI"/>
                        </a:rPr>
                        <a:t>–</a:t>
                      </a:r>
                    </a:p>
                  </a:txBody>
                  <a:tcPr marL="54864" marR="54864" marT="27432" marB="27432">
                    <a:solidFill>
                      <a:srgbClr val="F4F6F8"/>
                    </a:solidFill>
                  </a:tcPr>
                </a:tc>
              </a:tr>
              <a:tr h="374904">
                <a:tc>
                  <a:txBody>
                    <a:bodyPr wrap="square"/>
                    <a:lstStyle/>
                    <a:p>
                      <a:r>
                        <a:rPr sz="1050" b="0">
                          <a:solidFill>
                            <a:srgbClr val="14202E"/>
                          </a:solidFill>
                          <a:latin typeface="Segoe UI"/>
                        </a:rPr>
                        <a:t>‘When to refuse to answer’ theory [6, 7]</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yes</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c>
                  <a:txBody>
                    <a:bodyPr wrap="square"/>
                    <a:lstStyle/>
                    <a:p>
                      <a:pPr algn="ctr"/>
                      <a:r>
                        <a:rPr sz="1050" b="0">
                          <a:solidFill>
                            <a:srgbClr val="14202E"/>
                          </a:solidFill>
                          <a:latin typeface="Segoe UI"/>
                        </a:rPr>
                        <a:t>–</a:t>
                      </a:r>
                    </a:p>
                  </a:txBody>
                  <a:tcPr marL="54864" marR="54864" marT="27432" marB="27432">
                    <a:solidFill>
                      <a:srgbClr val="FFFFFF"/>
                    </a:solidFill>
                  </a:tcPr>
                </a:tc>
              </a:tr>
              <a:tr h="374904">
                <a:tc>
                  <a:txBody>
                    <a:bodyPr wrap="square"/>
                    <a:lstStyle/>
                    <a:p>
                      <a:r>
                        <a:rPr sz="1050" b="1">
                          <a:solidFill>
                            <a:srgbClr val="0B5C8E"/>
                          </a:solidFill>
                          <a:latin typeface="Segoe UI"/>
                        </a:rPr>
                        <a:t>This project (designed for all five)</a:t>
                      </a:r>
                    </a:p>
                  </a:txBody>
                  <a:tcPr marL="54864" marR="54864" marT="27432" marB="27432">
                    <a:solidFill>
                      <a:srgbClr val="EEF3F8"/>
                    </a:solidFill>
                  </a:tcPr>
                </a:tc>
                <a:tc>
                  <a:txBody>
                    <a:bodyPr wrap="square"/>
                    <a:lstStyle/>
                    <a:p>
                      <a:pPr algn="ctr"/>
                      <a:r>
                        <a:rPr sz="1050" b="1">
                          <a:solidFill>
                            <a:srgbClr val="0B5C8E"/>
                          </a:solidFill>
                          <a:latin typeface="Segoe UI"/>
                        </a:rPr>
                        <a:t>yes</a:t>
                      </a:r>
                    </a:p>
                  </a:txBody>
                  <a:tcPr marL="54864" marR="54864" marT="27432" marB="27432">
                    <a:solidFill>
                      <a:srgbClr val="EEF3F8"/>
                    </a:solidFill>
                  </a:tcPr>
                </a:tc>
                <a:tc>
                  <a:txBody>
                    <a:bodyPr wrap="square"/>
                    <a:lstStyle/>
                    <a:p>
                      <a:pPr algn="ctr"/>
                      <a:r>
                        <a:rPr sz="1050" b="1">
                          <a:solidFill>
                            <a:srgbClr val="0B5C8E"/>
                          </a:solidFill>
                          <a:latin typeface="Segoe UI"/>
                        </a:rPr>
                        <a:t>yes</a:t>
                      </a:r>
                    </a:p>
                  </a:txBody>
                  <a:tcPr marL="54864" marR="54864" marT="27432" marB="27432">
                    <a:solidFill>
                      <a:srgbClr val="EEF3F8"/>
                    </a:solidFill>
                  </a:tcPr>
                </a:tc>
                <a:tc>
                  <a:txBody>
                    <a:bodyPr wrap="square"/>
                    <a:lstStyle/>
                    <a:p>
                      <a:pPr algn="ctr"/>
                      <a:r>
                        <a:rPr sz="1050" b="1">
                          <a:solidFill>
                            <a:srgbClr val="0B5C8E"/>
                          </a:solidFill>
                          <a:latin typeface="Segoe UI"/>
                        </a:rPr>
                        <a:t>yes</a:t>
                      </a:r>
                    </a:p>
                  </a:txBody>
                  <a:tcPr marL="54864" marR="54864" marT="27432" marB="27432">
                    <a:solidFill>
                      <a:srgbClr val="EEF3F8"/>
                    </a:solidFill>
                  </a:tcPr>
                </a:tc>
                <a:tc>
                  <a:txBody>
                    <a:bodyPr wrap="square"/>
                    <a:lstStyle/>
                    <a:p>
                      <a:pPr algn="ctr"/>
                      <a:r>
                        <a:rPr sz="1050" b="1">
                          <a:solidFill>
                            <a:srgbClr val="0B5C8E"/>
                          </a:solidFill>
                          <a:latin typeface="Segoe UI"/>
                        </a:rPr>
                        <a:t>yes</a:t>
                      </a:r>
                    </a:p>
                  </a:txBody>
                  <a:tcPr marL="54864" marR="54864" marT="27432" marB="27432">
                    <a:solidFill>
                      <a:srgbClr val="EEF3F8"/>
                    </a:solidFill>
                  </a:tcPr>
                </a:tc>
                <a:tc>
                  <a:txBody>
                    <a:bodyPr wrap="square"/>
                    <a:lstStyle/>
                    <a:p>
                      <a:pPr algn="ctr"/>
                      <a:r>
                        <a:rPr sz="1050" b="1">
                          <a:solidFill>
                            <a:srgbClr val="0B5C8E"/>
                          </a:solidFill>
                          <a:latin typeface="Segoe UI"/>
                        </a:rPr>
                        <a:t>yes</a:t>
                      </a:r>
                    </a:p>
                  </a:txBody>
                  <a:tcPr marL="54864" marR="54864" marT="27432" marB="27432">
                    <a:solidFill>
                      <a:srgbClr val="EEF3F8"/>
                    </a:solidFill>
                  </a:tcPr>
                </a:tc>
              </a:tr>
            </a:tbl>
          </a:graphicData>
        </a:graphic>
      </p:graphicFrame>
      <p:sp>
        <p:nvSpPr>
          <p:cNvPr id="14" name="TextBox 13"/>
          <p:cNvSpPr txBox="1"/>
          <p:nvPr/>
        </p:nvSpPr>
        <p:spPr>
          <a:xfrm>
            <a:off x="548640" y="5257800"/>
            <a:ext cx="11155680" cy="548640"/>
          </a:xfrm>
          <a:prstGeom prst="rect">
            <a:avLst/>
          </a:prstGeom>
          <a:noFill/>
        </p:spPr>
        <p:txBody>
          <a:bodyPr wrap="square">
            <a:spAutoFit/>
          </a:bodyPr>
          <a:lstStyle/>
          <a:p>
            <a:pPr algn="l">
              <a:spcAft>
                <a:spcPts val="0"/>
              </a:spcAft>
            </a:pPr>
            <a:r>
              <a:rPr sz="1000" b="0">
                <a:solidFill>
                  <a:srgbClr val="8A939C"/>
                </a:solidFill>
                <a:latin typeface="Segoe UI"/>
              </a:rPr>
              <a:t>Electric-hum dating: mains power hums at about 50 Hz with tiny drifts that the grid logs; a recording picks up the hum, so matching its drifts to the log reveals when it was made. How to read: ‘yes’ = the method does what the column says · ‘partly’ = in a limited way · ‘–’ = no. Our own reading of the papers; the last row is what this project was designed to do, not a claim that it is better at each.</a:t>
            </a:r>
          </a:p>
        </p:txBody>
      </p:sp>
      <p:sp>
        <p:nvSpPr>
          <p:cNvPr id="15" name="TextBox 14"/>
          <p:cNvSpPr txBox="1"/>
          <p:nvPr/>
        </p:nvSpPr>
        <p:spPr>
          <a:xfrm>
            <a:off x="548640" y="5897880"/>
            <a:ext cx="11155680" cy="502920"/>
          </a:xfrm>
          <a:prstGeom prst="rect">
            <a:avLst/>
          </a:prstGeom>
          <a:noFill/>
        </p:spPr>
        <p:txBody>
          <a:bodyPr wrap="square">
            <a:spAutoFit/>
          </a:bodyPr>
          <a:lstStyle/>
          <a:p>
            <a:pPr algn="l">
              <a:spcAft>
                <a:spcPts val="0"/>
              </a:spcAft>
            </a:pPr>
            <a:r>
              <a:rPr sz="1200" b="1">
                <a:solidFill>
                  <a:srgbClr val="0B5C8E"/>
                </a:solidFill>
                <a:latin typeface="Segoe UI"/>
              </a:rPr>
              <a:t>Where we stand: we borrow the electric-hum idea - date a recording by matching it to a log - and apply it to market TV using the chart's price and day's high, plus a careful rule for saying ‘impossible’.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RESEARCH OBJECTIVES AND CONTRIBUTIONS</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1">
                <a:solidFill>
                  <a:srgbClr val="0B5C8E"/>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200" b="1">
                <a:solidFill>
                  <a:srgbClr val="14202E"/>
                </a:solidFill>
                <a:latin typeface="Segoe UI"/>
              </a:rPr>
              <a:t>Our contributions: a new question, dating TV from its chart, real evidence</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5</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Rounded Rectangle 12"/>
          <p:cNvSpPr/>
          <p:nvPr/>
        </p:nvSpPr>
        <p:spPr>
          <a:xfrm>
            <a:off x="548640" y="1508760"/>
            <a:ext cx="3566160" cy="5486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a:rPr>
              <a:t>1 · A new checking task</a:t>
            </a:r>
          </a:p>
        </p:txBody>
      </p:sp>
      <p:sp>
        <p:nvSpPr>
          <p:cNvPr id="14" name="Rounded Rectangle 13"/>
          <p:cNvSpPr/>
          <p:nvPr/>
        </p:nvSpPr>
        <p:spPr>
          <a:xfrm>
            <a:off x="548640" y="2103120"/>
            <a:ext cx="3566160" cy="19202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For every claim in a video: PASS, FAIL or ABSTAIN against the market record - and FAIL only if impossible under every sensible reading.</a:t>
            </a:r>
          </a:p>
        </p:txBody>
      </p:sp>
      <p:sp>
        <p:nvSpPr>
          <p:cNvPr id="15" name="TextBox 14"/>
          <p:cNvSpPr txBox="1"/>
          <p:nvPr/>
        </p:nvSpPr>
        <p:spPr>
          <a:xfrm>
            <a:off x="548640" y="4069080"/>
            <a:ext cx="3566160" cy="320040"/>
          </a:xfrm>
          <a:prstGeom prst="rect">
            <a:avLst/>
          </a:prstGeom>
          <a:noFill/>
        </p:spPr>
        <p:txBody>
          <a:bodyPr wrap="square">
            <a:spAutoFit/>
          </a:bodyPr>
          <a:lstStyle/>
          <a:p>
            <a:pPr algn="ctr">
              <a:spcAft>
                <a:spcPts val="0"/>
              </a:spcAft>
            </a:pPr>
            <a:r>
              <a:rPr sz="1000" b="0">
                <a:solidFill>
                  <a:srgbClr val="8A939C"/>
                </a:solidFill>
                <a:latin typeface="Segoe UI"/>
              </a:rPr>
              <a:t>for specialists - sound three-valued verification</a:t>
            </a:r>
          </a:p>
        </p:txBody>
      </p:sp>
      <p:sp>
        <p:nvSpPr>
          <p:cNvPr id="16" name="Rounded Rectangle 15"/>
          <p:cNvSpPr/>
          <p:nvPr/>
        </p:nvSpPr>
        <p:spPr>
          <a:xfrm>
            <a:off x="548640" y="4434840"/>
            <a:ext cx="3566160" cy="64008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5C8E"/>
                </a:solidFill>
                <a:latin typeface="Segoe UI"/>
              </a:rPr>
              <a:t>Evidence: guarantee ‘never wrongly impossible’ (slide 7); fair test (slide 11)</a:t>
            </a:r>
          </a:p>
        </p:txBody>
      </p:sp>
      <p:sp>
        <p:nvSpPr>
          <p:cNvPr id="17" name="Rounded Rectangle 16"/>
          <p:cNvSpPr/>
          <p:nvPr/>
        </p:nvSpPr>
        <p:spPr>
          <a:xfrm>
            <a:off x="4297679" y="1508760"/>
            <a:ext cx="3566160" cy="5486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a:rPr>
              <a:t>2 · Dating TV from its own chart</a:t>
            </a:r>
          </a:p>
        </p:txBody>
      </p:sp>
      <p:sp>
        <p:nvSpPr>
          <p:cNvPr id="18" name="Rounded Rectangle 17"/>
          <p:cNvSpPr/>
          <p:nvPr/>
        </p:nvSpPr>
        <p:spPr>
          <a:xfrm>
            <a:off x="4297679" y="2103120"/>
            <a:ext cx="3566160" cy="19202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The chart's ‘highest so far today’ can only rise. Matching it and the price, frame by frame, with the record fixes the date and time - or the software says it cannot.</a:t>
            </a:r>
          </a:p>
        </p:txBody>
      </p:sp>
      <p:sp>
        <p:nvSpPr>
          <p:cNvPr id="19" name="TextBox 18"/>
          <p:cNvSpPr txBox="1"/>
          <p:nvPr/>
        </p:nvSpPr>
        <p:spPr>
          <a:xfrm>
            <a:off x="4297679" y="4069080"/>
            <a:ext cx="3566160" cy="320040"/>
          </a:xfrm>
          <a:prstGeom prst="rect">
            <a:avLst/>
          </a:prstGeom>
          <a:noFill/>
        </p:spPr>
        <p:txBody>
          <a:bodyPr wrap="square">
            <a:spAutoFit/>
          </a:bodyPr>
          <a:lstStyle/>
          <a:p>
            <a:pPr algn="ctr">
              <a:spcAft>
                <a:spcPts val="0"/>
              </a:spcAft>
            </a:pPr>
            <a:r>
              <a:rPr sz="1000" b="0">
                <a:solidFill>
                  <a:srgbClr val="8A939C"/>
                </a:solidFill>
                <a:latin typeface="Segoe UI"/>
              </a:rPr>
              <a:t>for specialists - monotone-display dating</a:t>
            </a:r>
          </a:p>
        </p:txBody>
      </p:sp>
      <p:sp>
        <p:nvSpPr>
          <p:cNvPr id="20" name="Rounded Rectangle 19"/>
          <p:cNvSpPr/>
          <p:nvPr/>
        </p:nvSpPr>
        <p:spPr>
          <a:xfrm>
            <a:off x="4297679" y="4434840"/>
            <a:ext cx="3566160" cy="64008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5C8E"/>
                </a:solidFill>
                <a:latin typeface="Segoe UI"/>
              </a:rPr>
              <a:t>Evidence: guarantee ‘true time kept’ (slide 7); slides 11–12</a:t>
            </a:r>
          </a:p>
        </p:txBody>
      </p:sp>
      <p:sp>
        <p:nvSpPr>
          <p:cNvPr id="21" name="Rounded Rectangle 20"/>
          <p:cNvSpPr/>
          <p:nvPr/>
        </p:nvSpPr>
        <p:spPr>
          <a:xfrm>
            <a:off x="8046719" y="1508760"/>
            <a:ext cx="3566160" cy="5486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Segoe UI"/>
              </a:rPr>
              <a:t>3 · Measured on real TV</a:t>
            </a:r>
          </a:p>
        </p:txBody>
      </p:sp>
      <p:sp>
        <p:nvSpPr>
          <p:cNvPr id="22" name="Rounded Rectangle 21"/>
          <p:cNvSpPr/>
          <p:nvPr/>
        </p:nvSpPr>
        <p:spPr>
          <a:xfrm>
            <a:off x="8046719" y="2103120"/>
            <a:ext cx="3566160" cy="19202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A fair test of our first version on TV days it never saw, deliberately changed quotes, and dates checked against our own recording clock - each with how many cases and how uncertain the result is.</a:t>
            </a:r>
          </a:p>
        </p:txBody>
      </p:sp>
      <p:sp>
        <p:nvSpPr>
          <p:cNvPr id="23" name="TextBox 22"/>
          <p:cNvSpPr txBox="1"/>
          <p:nvPr/>
        </p:nvSpPr>
        <p:spPr>
          <a:xfrm>
            <a:off x="8046719" y="4069080"/>
            <a:ext cx="3566160" cy="320040"/>
          </a:xfrm>
          <a:prstGeom prst="rect">
            <a:avLst/>
          </a:prstGeom>
          <a:noFill/>
        </p:spPr>
        <p:txBody>
          <a:bodyPr wrap="square">
            <a:spAutoFit/>
          </a:bodyPr>
          <a:lstStyle/>
          <a:p>
            <a:pPr algn="ctr">
              <a:spcAft>
                <a:spcPts val="0"/>
              </a:spcAft>
            </a:pPr>
            <a:r>
              <a:rPr sz="1000" b="0">
                <a:solidFill>
                  <a:srgbClr val="8A939C"/>
                </a:solidFill>
                <a:latin typeface="Segoe UI"/>
              </a:rPr>
              <a:t>for specialists - empirical study</a:t>
            </a:r>
          </a:p>
        </p:txBody>
      </p:sp>
      <p:sp>
        <p:nvSpPr>
          <p:cNvPr id="24" name="Rounded Rectangle 23"/>
          <p:cNvSpPr/>
          <p:nvPr/>
        </p:nvSpPr>
        <p:spPr>
          <a:xfrm>
            <a:off x="8046719" y="4434840"/>
            <a:ext cx="3566160" cy="64008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5C8E"/>
                </a:solidFill>
                <a:latin typeface="Segoe UI"/>
              </a:rPr>
              <a:t>Evidence: slides 10–12</a:t>
            </a:r>
          </a:p>
        </p:txBody>
      </p:sp>
      <p:sp>
        <p:nvSpPr>
          <p:cNvPr id="25" name="TextBox 24"/>
          <p:cNvSpPr txBox="1"/>
          <p:nvPr/>
        </p:nvSpPr>
        <p:spPr>
          <a:xfrm>
            <a:off x="548640" y="5257800"/>
            <a:ext cx="11247120" cy="457200"/>
          </a:xfrm>
          <a:prstGeom prst="rect">
            <a:avLst/>
          </a:prstGeom>
          <a:noFill/>
        </p:spPr>
        <p:txBody>
          <a:bodyPr wrap="square">
            <a:spAutoFit/>
          </a:bodyPr>
          <a:lstStyle/>
          <a:p>
            <a:pPr algn="l">
              <a:spcAft>
                <a:spcPts val="0"/>
              </a:spcAft>
            </a:pPr>
            <a:r>
              <a:rPr sz="1200" b="0">
                <a:solidFill>
                  <a:srgbClr val="8A939C"/>
                </a:solidFill>
                <a:latin typeface="Segoe UI"/>
              </a:rPr>
              <a:t>Also built (engineering, not claimed as research): the working software - readers, checks, downloadable evidence sheets, a desktop interface and 27 automatic self-tests of the code.</a:t>
            </a:r>
          </a:p>
        </p:txBody>
      </p:sp>
      <p:sp>
        <p:nvSpPr>
          <p:cNvPr id="26" name="Rectangle 25"/>
          <p:cNvSpPr/>
          <p:nvPr/>
        </p:nvSpPr>
        <p:spPr>
          <a:xfrm>
            <a:off x="548640" y="5943600"/>
            <a:ext cx="54864" cy="3200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897880"/>
            <a:ext cx="11109960" cy="411480"/>
          </a:xfrm>
          <a:prstGeom prst="rect">
            <a:avLst/>
          </a:prstGeom>
          <a:noFill/>
        </p:spPr>
        <p:txBody>
          <a:bodyPr wrap="square">
            <a:spAutoFit/>
          </a:bodyPr>
          <a:lstStyle/>
          <a:p>
            <a:r>
              <a:rPr sz="1300" b="1">
                <a:solidFill>
                  <a:srgbClr val="8A5A00"/>
                </a:solidFill>
                <a:latin typeface="Segoe UI"/>
              </a:rPr>
              <a:t>In plain words:  </a:t>
            </a:r>
            <a:r>
              <a:rPr sz="1300" b="0">
                <a:solidFill>
                  <a:srgbClr val="44505E"/>
                </a:solidFill>
                <a:latin typeface="Segoe UI"/>
              </a:rPr>
              <a:t>a new question, a way to read the clock off the TV chart, and honest measurements on real TV.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SYSTEM ARCHITECTURE</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1">
                <a:solidFill>
                  <a:srgbClr val="0B5C8E"/>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200" b="1">
                <a:solidFill>
                  <a:srgbClr val="14202E"/>
                </a:solidFill>
                <a:latin typeface="Segoe UI"/>
              </a:rPr>
              <a:t>How it works: three readers build a list of claims; three checks judge it</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6</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Rounded Rectangle 12"/>
          <p:cNvSpPr/>
          <p:nvPr/>
        </p:nvSpPr>
        <p:spPr>
          <a:xfrm>
            <a:off x="320040" y="1783080"/>
            <a:ext cx="1463040" cy="77724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202E"/>
                </a:solidFill>
                <a:latin typeface="Segoe UI"/>
              </a:rPr>
              <a:t>Video pictures</a:t>
            </a:r>
          </a:p>
        </p:txBody>
      </p:sp>
      <p:sp>
        <p:nvSpPr>
          <p:cNvPr id="14" name="Rounded Rectangle 13"/>
          <p:cNvSpPr/>
          <p:nvPr/>
        </p:nvSpPr>
        <p:spPr>
          <a:xfrm>
            <a:off x="320040" y="4206240"/>
            <a:ext cx="1463040" cy="77724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4202E"/>
                </a:solidFill>
                <a:latin typeface="Segoe UI"/>
              </a:rPr>
              <a:t>Video sound</a:t>
            </a:r>
          </a:p>
        </p:txBody>
      </p:sp>
      <p:sp>
        <p:nvSpPr>
          <p:cNvPr id="15" name="Rounded Rectangle 14"/>
          <p:cNvSpPr/>
          <p:nvPr/>
        </p:nvSpPr>
        <p:spPr>
          <a:xfrm>
            <a:off x="2194560" y="1508760"/>
            <a:ext cx="2286000" cy="10058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Frame reader</a:t>
            </a:r>
          </a:p>
          <a:p>
            <a:pPr algn="ctr"/>
            <a:r>
              <a:rPr sz="1100" b="0">
                <a:solidFill>
                  <a:srgbClr val="44505E"/>
                </a:solidFill>
                <a:latin typeface="Segoe UI"/>
              </a:rPr>
              <a:t>reads the chart → date and time</a:t>
            </a:r>
          </a:p>
        </p:txBody>
      </p:sp>
      <p:cxnSp>
        <p:nvCxnSpPr>
          <p:cNvPr id="16" name="Connector 15"/>
          <p:cNvCxnSpPr/>
          <p:nvPr/>
        </p:nvCxnSpPr>
        <p:spPr>
          <a:xfrm>
            <a:off x="4480560" y="2011680"/>
            <a:ext cx="502920" cy="128016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194560" y="2834639"/>
            <a:ext cx="2286000" cy="10058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Text reader</a:t>
            </a:r>
          </a:p>
          <a:p>
            <a:pPr algn="ctr"/>
            <a:r>
              <a:rPr sz="1100" b="0">
                <a:solidFill>
                  <a:srgbClr val="44505E"/>
                </a:solidFill>
                <a:latin typeface="Segoe UI"/>
              </a:rPr>
              <a:t>on-screen prices, share counts, profit figures</a:t>
            </a:r>
          </a:p>
        </p:txBody>
      </p:sp>
      <p:cxnSp>
        <p:nvCxnSpPr>
          <p:cNvPr id="18" name="Connector 17"/>
          <p:cNvCxnSpPr/>
          <p:nvPr/>
        </p:nvCxnSpPr>
        <p:spPr>
          <a:xfrm flipV="1">
            <a:off x="4480560" y="3291840"/>
            <a:ext cx="502920" cy="4572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194560" y="4160520"/>
            <a:ext cx="2286000" cy="10058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Audio reader</a:t>
            </a:r>
          </a:p>
          <a:p>
            <a:pPr algn="ctr"/>
            <a:r>
              <a:rPr sz="1100" b="0">
                <a:solidFill>
                  <a:srgbClr val="44505E"/>
                </a:solidFill>
                <a:latin typeface="Segoe UI"/>
              </a:rPr>
              <a:t>speech → words with times</a:t>
            </a:r>
          </a:p>
        </p:txBody>
      </p:sp>
      <p:cxnSp>
        <p:nvCxnSpPr>
          <p:cNvPr id="20" name="Connector 19"/>
          <p:cNvCxnSpPr/>
          <p:nvPr/>
        </p:nvCxnSpPr>
        <p:spPr>
          <a:xfrm flipV="1">
            <a:off x="4480560" y="3291840"/>
            <a:ext cx="502920" cy="137160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783080" y="2011680"/>
            <a:ext cx="411480" cy="155448"/>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783080" y="2167128"/>
            <a:ext cx="411480" cy="1170432"/>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783080" y="4590288"/>
            <a:ext cx="411480" cy="73152"/>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83480" y="2788920"/>
            <a:ext cx="2103120" cy="1005840"/>
          </a:xfrm>
          <a:prstGeom prst="roundRect">
            <a:avLst>
              <a:gd name="adj" fmla="val 6000"/>
            </a:avLst>
          </a:prstGeom>
          <a:solidFill>
            <a:srgbClr val="FFFFFF"/>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4202E"/>
                </a:solidFill>
                <a:latin typeface="Segoe UI"/>
              </a:rPr>
              <a:t>Claim list</a:t>
            </a:r>
          </a:p>
          <a:p>
            <a:pPr algn="ctr"/>
            <a:r>
              <a:rPr sz="1200" b="0">
                <a:solidFill>
                  <a:srgbClr val="44505E"/>
                </a:solidFill>
                <a:latin typeface="Segoe UI"/>
              </a:rPr>
              <a:t>who said what, which stock, when</a:t>
            </a:r>
          </a:p>
        </p:txBody>
      </p:sp>
      <p:sp>
        <p:nvSpPr>
          <p:cNvPr id="25" name="Rounded Rectangle 24"/>
          <p:cNvSpPr/>
          <p:nvPr/>
        </p:nvSpPr>
        <p:spPr>
          <a:xfrm>
            <a:off x="4983480" y="4572000"/>
            <a:ext cx="2103120" cy="91440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Market record</a:t>
            </a:r>
          </a:p>
          <a:p>
            <a:pPr algn="ctr"/>
            <a:r>
              <a:rPr sz="1100" b="0">
                <a:solidFill>
                  <a:srgbClr val="44505E"/>
                </a:solidFill>
                <a:latin typeface="Segoe UI"/>
              </a:rPr>
              <a:t>NSE, minute by minute (Yahoo Finance) → used by all three checks</a:t>
            </a:r>
          </a:p>
        </p:txBody>
      </p:sp>
      <p:cxnSp>
        <p:nvCxnSpPr>
          <p:cNvPr id="26" name="Connector 25"/>
          <p:cNvCxnSpPr/>
          <p:nvPr/>
        </p:nvCxnSpPr>
        <p:spPr>
          <a:xfrm flipV="1">
            <a:off x="7086600" y="4663440"/>
            <a:ext cx="502920" cy="36576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589520" y="1508760"/>
            <a:ext cx="2194560" cy="10058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TRADE</a:t>
            </a:r>
          </a:p>
          <a:p>
            <a:pPr algn="ctr"/>
            <a:r>
              <a:rPr sz="1100" b="0">
                <a:solidFill>
                  <a:srgbClr val="44505E"/>
                </a:solidFill>
                <a:latin typeface="Segoe UI"/>
              </a:rPr>
              <a:t>enough shares traded?</a:t>
            </a:r>
          </a:p>
        </p:txBody>
      </p:sp>
      <p:cxnSp>
        <p:nvCxnSpPr>
          <p:cNvPr id="28" name="Connector 27"/>
          <p:cNvCxnSpPr/>
          <p:nvPr/>
        </p:nvCxnSpPr>
        <p:spPr>
          <a:xfrm flipV="1">
            <a:off x="7086600" y="2011680"/>
            <a:ext cx="502920" cy="128016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784080" y="2011680"/>
            <a:ext cx="365760" cy="128016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589520" y="2834639"/>
            <a:ext cx="2194560" cy="10058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TIMING</a:t>
            </a:r>
          </a:p>
          <a:p>
            <a:pPr algn="ctr"/>
            <a:r>
              <a:rPr sz="1100" b="0">
                <a:solidFill>
                  <a:srgbClr val="44505E"/>
                </a:solidFill>
                <a:latin typeface="Segoe UI"/>
              </a:rPr>
              <a:t>price recorded just before?</a:t>
            </a:r>
          </a:p>
        </p:txBody>
      </p:sp>
      <p:cxnSp>
        <p:nvCxnSpPr>
          <p:cNvPr id="31" name="Connector 30"/>
          <p:cNvCxnSpPr/>
          <p:nvPr/>
        </p:nvCxnSpPr>
        <p:spPr>
          <a:xfrm>
            <a:off x="7086600" y="3291840"/>
            <a:ext cx="502920" cy="4572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784080" y="3291840"/>
            <a:ext cx="365760" cy="4572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589520" y="4160520"/>
            <a:ext cx="2194560" cy="100584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TENURE</a:t>
            </a:r>
          </a:p>
          <a:p>
            <a:pPr algn="ctr"/>
            <a:r>
              <a:rPr sz="1100" b="0">
                <a:solidFill>
                  <a:srgbClr val="44505E"/>
                </a:solidFill>
                <a:latin typeface="Segoe UI"/>
              </a:rPr>
              <a:t>how old is the data?</a:t>
            </a:r>
          </a:p>
        </p:txBody>
      </p:sp>
      <p:cxnSp>
        <p:nvCxnSpPr>
          <p:cNvPr id="34" name="Connector 33"/>
          <p:cNvCxnSpPr/>
          <p:nvPr/>
        </p:nvCxnSpPr>
        <p:spPr>
          <a:xfrm>
            <a:off x="7086600" y="3291840"/>
            <a:ext cx="502920" cy="137160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784080" y="3291840"/>
            <a:ext cx="365760" cy="1371600"/>
          </a:xfrm>
          <a:prstGeom prst="line">
            <a:avLst/>
          </a:prstGeom>
          <a:ln w="22225">
            <a:solidFill>
              <a:srgbClr val="4450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149840" y="2743200"/>
            <a:ext cx="1691640" cy="1097280"/>
          </a:xfrm>
          <a:prstGeom prst="roundRect">
            <a:avLst>
              <a:gd name="adj" fmla="val 6000"/>
            </a:avLst>
          </a:prstGeom>
          <a:solidFill>
            <a:srgbClr val="FFFFFF"/>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4202E"/>
                </a:solidFill>
                <a:latin typeface="Segoe UI"/>
              </a:rPr>
              <a:t>Certificate</a:t>
            </a:r>
          </a:p>
          <a:p>
            <a:pPr algn="ctr"/>
            <a:r>
              <a:rPr sz="1100" b="0">
                <a:solidFill>
                  <a:srgbClr val="44505E"/>
                </a:solidFill>
                <a:latin typeface="Segoe UI"/>
              </a:rPr>
              <a:t>the 3 answers + evidence, downloadable</a:t>
            </a:r>
          </a:p>
        </p:txBody>
      </p:sp>
      <p:sp>
        <p:nvSpPr>
          <p:cNvPr id="37" name="TextBox 36"/>
          <p:cNvSpPr txBox="1"/>
          <p:nvPr/>
        </p:nvSpPr>
        <p:spPr>
          <a:xfrm>
            <a:off x="548640" y="5532120"/>
            <a:ext cx="11247120" cy="411480"/>
          </a:xfrm>
          <a:prstGeom prst="rect">
            <a:avLst/>
          </a:prstGeom>
          <a:noFill/>
        </p:spPr>
        <p:txBody>
          <a:bodyPr wrap="square">
            <a:spAutoFit/>
          </a:bodyPr>
          <a:lstStyle/>
          <a:p>
            <a:pPr algn="l">
              <a:spcAft>
                <a:spcPts val="0"/>
              </a:spcAft>
            </a:pPr>
            <a:r>
              <a:rPr sz="1000" b="0">
                <a:solidFill>
                  <a:srgbClr val="8A939C"/>
                </a:solidFill>
                <a:latin typeface="Segoe UI"/>
              </a:rPr>
              <a:t>Terms: a ‘reader’ (technical word: encoder) turns one kind of input into facts · text in pictures is read by OCR (optical character recognition) · speech is turned into words by ASR (automatic speech recognition).</a:t>
            </a:r>
          </a:p>
        </p:txBody>
      </p:sp>
      <p:sp>
        <p:nvSpPr>
          <p:cNvPr id="38" name="Rectangle 37"/>
          <p:cNvSpPr/>
          <p:nvPr/>
        </p:nvSpPr>
        <p:spPr>
          <a:xfrm>
            <a:off x="548640" y="5989320"/>
            <a:ext cx="54864" cy="3200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5943600"/>
            <a:ext cx="11109960" cy="411480"/>
          </a:xfrm>
          <a:prstGeom prst="rect">
            <a:avLst/>
          </a:prstGeom>
          <a:noFill/>
        </p:spPr>
        <p:txBody>
          <a:bodyPr wrap="square">
            <a:spAutoFit/>
          </a:bodyPr>
          <a:lstStyle/>
          <a:p>
            <a:r>
              <a:rPr sz="1300" b="1">
                <a:solidFill>
                  <a:srgbClr val="8A5A00"/>
                </a:solidFill>
                <a:latin typeface="Segoe UI"/>
              </a:rPr>
              <a:t>In plain words:  </a:t>
            </a:r>
            <a:r>
              <a:rPr sz="1300" b="0">
                <a:solidFill>
                  <a:srgbClr val="44505E"/>
                </a:solidFill>
                <a:latin typeface="Segoe UI"/>
              </a:rPr>
              <a:t>two readers watch the screen, one listens; they write one shared list; three checks judge it and sign one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PROPOSED MATHEMATICAL FORMULATION</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1">
                <a:solidFill>
                  <a:srgbClr val="0B5C8E"/>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Three rules and two guarantees - in words</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7</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TextBox 12"/>
          <p:cNvSpPr txBox="1"/>
          <p:nvPr/>
        </p:nvSpPr>
        <p:spPr>
          <a:xfrm>
            <a:off x="548640" y="1463040"/>
            <a:ext cx="6035040" cy="274320"/>
          </a:xfrm>
          <a:prstGeom prst="rect">
            <a:avLst/>
          </a:prstGeom>
          <a:noFill/>
        </p:spPr>
        <p:txBody>
          <a:bodyPr wrap="square">
            <a:spAutoFit/>
          </a:bodyPr>
          <a:lstStyle/>
          <a:p>
            <a:pPr algn="l">
              <a:spcAft>
                <a:spcPts val="0"/>
              </a:spcAft>
            </a:pPr>
            <a:r>
              <a:rPr sz="1300" b="1">
                <a:solidFill>
                  <a:srgbClr val="0B5C8E"/>
                </a:solidFill>
                <a:latin typeface="Segoe UI"/>
              </a:rPr>
              <a:t>Rule 1 · find the time</a:t>
            </a:r>
          </a:p>
        </p:txBody>
      </p:sp>
      <p:sp>
        <p:nvSpPr>
          <p:cNvPr id="14" name="TextBox 13"/>
          <p:cNvSpPr txBox="1"/>
          <p:nvPr/>
        </p:nvSpPr>
        <p:spPr>
          <a:xfrm>
            <a:off x="548640" y="1737360"/>
            <a:ext cx="6035040" cy="548640"/>
          </a:xfrm>
          <a:prstGeom prst="rect">
            <a:avLst/>
          </a:prstGeom>
          <a:noFill/>
        </p:spPr>
        <p:txBody>
          <a:bodyPr wrap="square">
            <a:spAutoFit/>
          </a:bodyPr>
          <a:lstStyle/>
          <a:p>
            <a:pPr algn="l">
              <a:spcAft>
                <a:spcPts val="0"/>
              </a:spcAft>
            </a:pPr>
            <a:r>
              <a:rPr sz="1200" b="0">
                <a:solidFill>
                  <a:srgbClr val="14202E"/>
                </a:solidFill>
                <a:latin typeface="Segoe UI"/>
              </a:rPr>
              <a:t>Keep only the moments - on any trading day - where the price AND the day's high shown in EVERY frame match what the market recorded.</a:t>
            </a:r>
          </a:p>
        </p:txBody>
      </p:sp>
      <p:sp>
        <p:nvSpPr>
          <p:cNvPr id="15" name="TextBox 14"/>
          <p:cNvSpPr txBox="1"/>
          <p:nvPr/>
        </p:nvSpPr>
        <p:spPr>
          <a:xfrm>
            <a:off x="548640" y="2331720"/>
            <a:ext cx="6035040" cy="274320"/>
          </a:xfrm>
          <a:prstGeom prst="rect">
            <a:avLst/>
          </a:prstGeom>
          <a:noFill/>
        </p:spPr>
        <p:txBody>
          <a:bodyPr wrap="square">
            <a:spAutoFit/>
          </a:bodyPr>
          <a:lstStyle/>
          <a:p>
            <a:pPr algn="l">
              <a:spcAft>
                <a:spcPts val="0"/>
              </a:spcAft>
            </a:pPr>
            <a:r>
              <a:rPr sz="1300" b="1">
                <a:solidFill>
                  <a:srgbClr val="0B5C8E"/>
                </a:solidFill>
                <a:latin typeface="Segoe UI"/>
              </a:rPr>
              <a:t>Rule 2 · does a claim fit?</a:t>
            </a:r>
          </a:p>
        </p:txBody>
      </p:sp>
      <p:sp>
        <p:nvSpPr>
          <p:cNvPr id="16" name="TextBox 15"/>
          <p:cNvSpPr txBox="1"/>
          <p:nvPr/>
        </p:nvSpPr>
        <p:spPr>
          <a:xfrm>
            <a:off x="548640" y="2606039"/>
            <a:ext cx="6035040" cy="548640"/>
          </a:xfrm>
          <a:prstGeom prst="rect">
            <a:avLst/>
          </a:prstGeom>
          <a:noFill/>
        </p:spPr>
        <p:txBody>
          <a:bodyPr wrap="square">
            <a:spAutoFit/>
          </a:bodyPr>
          <a:lstStyle/>
          <a:p>
            <a:pPr algn="l">
              <a:spcAft>
                <a:spcPts val="0"/>
              </a:spcAft>
            </a:pPr>
            <a:r>
              <a:rPr sz="1200" b="0">
                <a:solidFill>
                  <a:srgbClr val="14202E"/>
                </a:solidFill>
                <a:latin typeface="Segoe UI"/>
              </a:rPr>
              <a:t>Yes if, allowing for rounding, the stated price was within the recorded range in a minute the speaker could have been looking at (up to 3 minutes before speaking).</a:t>
            </a:r>
          </a:p>
        </p:txBody>
      </p:sp>
      <p:sp>
        <p:nvSpPr>
          <p:cNvPr id="17" name="TextBox 16"/>
          <p:cNvSpPr txBox="1"/>
          <p:nvPr/>
        </p:nvSpPr>
        <p:spPr>
          <a:xfrm>
            <a:off x="548640" y="3200400"/>
            <a:ext cx="6035040" cy="274320"/>
          </a:xfrm>
          <a:prstGeom prst="rect">
            <a:avLst/>
          </a:prstGeom>
          <a:noFill/>
        </p:spPr>
        <p:txBody>
          <a:bodyPr wrap="square">
            <a:spAutoFit/>
          </a:bodyPr>
          <a:lstStyle/>
          <a:p>
            <a:pPr algn="l">
              <a:spcAft>
                <a:spcPts val="0"/>
              </a:spcAft>
            </a:pPr>
            <a:r>
              <a:rPr sz="1300" b="1">
                <a:solidFill>
                  <a:srgbClr val="0B5C8E"/>
                </a:solidFill>
                <a:latin typeface="Segoe UI"/>
              </a:rPr>
              <a:t>Rule 3 · the answer</a:t>
            </a:r>
          </a:p>
        </p:txBody>
      </p:sp>
      <p:sp>
        <p:nvSpPr>
          <p:cNvPr id="18" name="TextBox 17"/>
          <p:cNvSpPr txBox="1"/>
          <p:nvPr/>
        </p:nvSpPr>
        <p:spPr>
          <a:xfrm>
            <a:off x="548640" y="3474720"/>
            <a:ext cx="6035040" cy="548640"/>
          </a:xfrm>
          <a:prstGeom prst="rect">
            <a:avLst/>
          </a:prstGeom>
          <a:noFill/>
        </p:spPr>
        <p:txBody>
          <a:bodyPr wrap="square">
            <a:spAutoFit/>
          </a:bodyPr>
          <a:lstStyle/>
          <a:p>
            <a:pPr algn="l">
              <a:spcAft>
                <a:spcPts val="0"/>
              </a:spcAft>
            </a:pPr>
            <a:r>
              <a:rPr sz="1200" b="0">
                <a:solidFill>
                  <a:srgbClr val="14202E"/>
                </a:solidFill>
                <a:latin typeface="Segoe UI"/>
              </a:rPr>
              <a:t>FAIL if no sensible reading fits and the 4 conditions of slide 3 hold · PASS if at least one reading fits · otherwise ABSTAIN.</a:t>
            </a:r>
          </a:p>
        </p:txBody>
      </p:sp>
      <p:sp>
        <p:nvSpPr>
          <p:cNvPr id="19" name="Rounded Rectangle 18"/>
          <p:cNvSpPr/>
          <p:nvPr/>
        </p:nvSpPr>
        <p:spPr>
          <a:xfrm>
            <a:off x="548640" y="4114800"/>
            <a:ext cx="6035040" cy="347472"/>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Segoe UI"/>
              </a:rPr>
              <a:t>Guarantee ‘true time kept’</a:t>
            </a:r>
          </a:p>
        </p:txBody>
      </p:sp>
      <p:sp>
        <p:nvSpPr>
          <p:cNvPr id="20" name="TextBox 19"/>
          <p:cNvSpPr txBox="1"/>
          <p:nvPr/>
        </p:nvSpPr>
        <p:spPr>
          <a:xfrm>
            <a:off x="548640" y="4480560"/>
            <a:ext cx="6035040" cy="502920"/>
          </a:xfrm>
          <a:prstGeom prst="rect">
            <a:avLst/>
          </a:prstGeom>
          <a:noFill/>
        </p:spPr>
        <p:txBody>
          <a:bodyPr wrap="square">
            <a:spAutoFit/>
          </a:bodyPr>
          <a:lstStyle/>
          <a:p>
            <a:pPr algn="l">
              <a:spcAft>
                <a:spcPts val="0"/>
              </a:spcAft>
            </a:pPr>
            <a:r>
              <a:rPr sz="1100" b="0">
                <a:solidFill>
                  <a:srgbClr val="14202E"/>
                </a:solidFill>
                <a:latin typeface="Segoe UI"/>
              </a:rPr>
              <a:t>The real moment always survives Rule 1. So a wrong date can only come from a misread screen or a TV showing a different market - not from the rules themselves.</a:t>
            </a:r>
          </a:p>
        </p:txBody>
      </p:sp>
      <p:sp>
        <p:nvSpPr>
          <p:cNvPr id="21" name="Rounded Rectangle 20"/>
          <p:cNvSpPr/>
          <p:nvPr/>
        </p:nvSpPr>
        <p:spPr>
          <a:xfrm>
            <a:off x="548640" y="4983480"/>
            <a:ext cx="6035040" cy="347472"/>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Segoe UI"/>
              </a:rPr>
              <a:t>Guarantee ‘never wrongly impossible’</a:t>
            </a:r>
          </a:p>
        </p:txBody>
      </p:sp>
      <p:sp>
        <p:nvSpPr>
          <p:cNvPr id="22" name="TextBox 21"/>
          <p:cNvSpPr txBox="1"/>
          <p:nvPr/>
        </p:nvSpPr>
        <p:spPr>
          <a:xfrm>
            <a:off x="548640" y="5349240"/>
            <a:ext cx="6035040" cy="411480"/>
          </a:xfrm>
          <a:prstGeom prst="rect">
            <a:avLst/>
          </a:prstGeom>
          <a:noFill/>
        </p:spPr>
        <p:txBody>
          <a:bodyPr wrap="square">
            <a:spAutoFit/>
          </a:bodyPr>
          <a:lstStyle/>
          <a:p>
            <a:pPr algn="l">
              <a:spcAft>
                <a:spcPts val="0"/>
              </a:spcAft>
            </a:pPr>
            <a:r>
              <a:rPr sz="1100" b="0">
                <a:solidFill>
                  <a:srgbClr val="14202E"/>
                </a:solidFill>
                <a:latin typeface="Segoe UI"/>
              </a:rPr>
              <a:t>FAIL needs every reading we try to fail. So a wrong FAIL can only happen if the right reading was not among those tried, or the market data were wrong.</a:t>
            </a:r>
          </a:p>
        </p:txBody>
      </p:sp>
      <p:sp>
        <p:nvSpPr>
          <p:cNvPr id="23" name="Rounded Rectangle 22"/>
          <p:cNvSpPr/>
          <p:nvPr/>
        </p:nvSpPr>
        <p:spPr>
          <a:xfrm>
            <a:off x="548640" y="5806440"/>
            <a:ext cx="6035040" cy="457200"/>
          </a:xfrm>
          <a:prstGeom prst="roundRect">
            <a:avLst>
              <a:gd name="adj" fmla="val 6000"/>
            </a:avLst>
          </a:prstGeom>
          <a:solidFill>
            <a:srgbClr val="FFF6DB"/>
          </a:solidFill>
          <a:ln w="1587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Not guaranteed: a PASS only means ‘fits the record’ - it does not prove the claim true.</a:t>
            </a:r>
          </a:p>
        </p:txBody>
      </p:sp>
      <p:sp>
        <p:nvSpPr>
          <p:cNvPr id="24" name="TextBox 23"/>
          <p:cNvSpPr txBox="1"/>
          <p:nvPr/>
        </p:nvSpPr>
        <p:spPr>
          <a:xfrm>
            <a:off x="6812280" y="1463040"/>
            <a:ext cx="5029200" cy="274320"/>
          </a:xfrm>
          <a:prstGeom prst="rect">
            <a:avLst/>
          </a:prstGeom>
          <a:noFill/>
        </p:spPr>
        <p:txBody>
          <a:bodyPr wrap="square">
            <a:spAutoFit/>
          </a:bodyPr>
          <a:lstStyle/>
          <a:p>
            <a:pPr algn="l">
              <a:spcAft>
                <a:spcPts val="0"/>
              </a:spcAft>
            </a:pPr>
            <a:r>
              <a:rPr sz="1200" b="1">
                <a:solidFill>
                  <a:srgbClr val="0B5C8E"/>
                </a:solidFill>
                <a:latin typeface="Segoe UI"/>
              </a:rPr>
              <a:t>What one real frame tells us (6 Oct 2026)</a:t>
            </a:r>
          </a:p>
        </p:txBody>
      </p:sp>
      <p:pic>
        <p:nvPicPr>
          <p:cNvPr id="25" name="Picture 24" descr="fig_insight_frame.png"/>
          <p:cNvPicPr>
            <a:picLocks noChangeAspect="1"/>
          </p:cNvPicPr>
          <p:nvPr/>
        </p:nvPicPr>
        <p:blipFill>
          <a:blip r:embed="rId3"/>
          <a:stretch>
            <a:fillRect/>
          </a:stretch>
        </p:blipFill>
        <p:spPr>
          <a:xfrm>
            <a:off x="6812280" y="1737360"/>
            <a:ext cx="4983480" cy="1902783"/>
          </a:xfrm>
          <a:prstGeom prst="rect">
            <a:avLst/>
          </a:prstGeom>
          <a:ln>
            <a:solidFill>
              <a:srgbClr val="D9D4CA"/>
            </a:solidFill>
          </a:ln>
        </p:spPr>
      </p:pic>
      <p:sp>
        <p:nvSpPr>
          <p:cNvPr id="26" name="TextBox 25"/>
          <p:cNvSpPr txBox="1"/>
          <p:nvPr/>
        </p:nvSpPr>
        <p:spPr>
          <a:xfrm>
            <a:off x="6812280" y="3977639"/>
            <a:ext cx="4983480" cy="1554480"/>
          </a:xfrm>
          <a:prstGeom prst="rect">
            <a:avLst/>
          </a:prstGeom>
          <a:noFill/>
        </p:spPr>
        <p:txBody>
          <a:bodyPr wrap="square">
            <a:spAutoFit/>
          </a:bodyPr>
          <a:lstStyle/>
          <a:p>
            <a:pPr algn="l">
              <a:spcAft>
                <a:spcPts val="0"/>
              </a:spcAft>
            </a:pPr>
            <a:r>
              <a:rPr sz="1100" b="0">
                <a:solidFill>
                  <a:srgbClr val="44505E"/>
                </a:solidFill>
                <a:latin typeface="Segoe UI"/>
              </a:rPr>
              <a:t>How to read: grey bars = lowest–highest index level in each minute of the day · brown line = the day's high so far (it only rises) · red ticks = minutes where the shown price alone fits · green bands = minutes where price AND day's high both fit. One frame narrows the day from 22 possible minutes to 8; each further frame narrows it again. The arrow marks the final answer after all 56 frames.</a:t>
            </a:r>
          </a:p>
        </p:txBody>
      </p:sp>
      <p:sp>
        <p:nvSpPr>
          <p:cNvPr id="27" name="TextBox 26"/>
          <p:cNvSpPr txBox="1"/>
          <p:nvPr/>
        </p:nvSpPr>
        <p:spPr>
          <a:xfrm>
            <a:off x="6812280" y="5577840"/>
            <a:ext cx="4983480" cy="274320"/>
          </a:xfrm>
          <a:prstGeom prst="rect">
            <a:avLst/>
          </a:prstGeom>
          <a:noFill/>
        </p:spPr>
        <p:txBody>
          <a:bodyPr wrap="square">
            <a:spAutoFit/>
          </a:bodyPr>
          <a:lstStyle/>
          <a:p>
            <a:pPr algn="l">
              <a:spcAft>
                <a:spcPts val="0"/>
              </a:spcAft>
            </a:pPr>
            <a:r>
              <a:rPr sz="1000" b="0">
                <a:solidFill>
                  <a:srgbClr val="8A939C"/>
                </a:solidFill>
                <a:latin typeface="Segoe UI"/>
              </a:rPr>
              <a:t>Formulas: Appendix A · proofs: Appendix B (the last slides, for specialists).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PROPOSED ALGORITHM</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1">
                <a:solidFill>
                  <a:srgbClr val="0B5C8E"/>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The algorithm: four steps (FACT), in words and in pseudocode</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8</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TextBox 12"/>
          <p:cNvSpPr txBox="1"/>
          <p:nvPr/>
        </p:nvSpPr>
        <p:spPr>
          <a:xfrm>
            <a:off x="2606040" y="1371600"/>
            <a:ext cx="4023360" cy="274320"/>
          </a:xfrm>
          <a:prstGeom prst="rect">
            <a:avLst/>
          </a:prstGeom>
          <a:noFill/>
        </p:spPr>
        <p:txBody>
          <a:bodyPr wrap="square">
            <a:spAutoFit/>
          </a:bodyPr>
          <a:lstStyle/>
          <a:p>
            <a:pPr algn="l">
              <a:spcAft>
                <a:spcPts val="0"/>
              </a:spcAft>
            </a:pPr>
            <a:r>
              <a:rPr sz="1200" b="1">
                <a:solidFill>
                  <a:srgbClr val="0B5C8E"/>
                </a:solidFill>
                <a:latin typeface="Segoe UI"/>
              </a:rPr>
              <a:t>In plain words</a:t>
            </a:r>
          </a:p>
        </p:txBody>
      </p:sp>
      <p:sp>
        <p:nvSpPr>
          <p:cNvPr id="14" name="TextBox 13"/>
          <p:cNvSpPr txBox="1"/>
          <p:nvPr/>
        </p:nvSpPr>
        <p:spPr>
          <a:xfrm>
            <a:off x="6720840" y="1371600"/>
            <a:ext cx="5120640" cy="274320"/>
          </a:xfrm>
          <a:prstGeom prst="rect">
            <a:avLst/>
          </a:prstGeom>
          <a:noFill/>
        </p:spPr>
        <p:txBody>
          <a:bodyPr wrap="square">
            <a:spAutoFit/>
          </a:bodyPr>
          <a:lstStyle/>
          <a:p>
            <a:pPr algn="l">
              <a:spcAft>
                <a:spcPts val="0"/>
              </a:spcAft>
            </a:pPr>
            <a:r>
              <a:rPr sz="1200" b="1">
                <a:solidFill>
                  <a:srgbClr val="0B5C8E"/>
                </a:solidFill>
                <a:latin typeface="Segoe UI"/>
              </a:rPr>
              <a:t>Pseudocode (what the software runs)</a:t>
            </a:r>
          </a:p>
        </p:txBody>
      </p:sp>
      <p:sp>
        <p:nvSpPr>
          <p:cNvPr id="15" name="Rounded Rectangle 14"/>
          <p:cNvSpPr/>
          <p:nvPr/>
        </p:nvSpPr>
        <p:spPr>
          <a:xfrm>
            <a:off x="548640" y="1691640"/>
            <a:ext cx="548640" cy="1252728"/>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F</a:t>
            </a:r>
          </a:p>
        </p:txBody>
      </p:sp>
      <p:sp>
        <p:nvSpPr>
          <p:cNvPr id="16" name="Rounded Rectangle 15"/>
          <p:cNvSpPr/>
          <p:nvPr/>
        </p:nvSpPr>
        <p:spPr>
          <a:xfrm>
            <a:off x="1143000" y="1691640"/>
            <a:ext cx="1371600" cy="1252728"/>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Frames → clock</a:t>
            </a:r>
          </a:p>
        </p:txBody>
      </p:sp>
      <p:sp>
        <p:nvSpPr>
          <p:cNvPr id="17" name="TextBox 16"/>
          <p:cNvSpPr txBox="1"/>
          <p:nvPr/>
        </p:nvSpPr>
        <p:spPr>
          <a:xfrm>
            <a:off x="2606040" y="1673352"/>
            <a:ext cx="4023360" cy="1325880"/>
          </a:xfrm>
          <a:prstGeom prst="rect">
            <a:avLst/>
          </a:prstGeom>
          <a:noFill/>
        </p:spPr>
        <p:txBody>
          <a:bodyPr wrap="square">
            <a:spAutoFit/>
          </a:bodyPr>
          <a:lstStyle/>
          <a:p>
            <a:pPr algn="l">
              <a:spcAft>
                <a:spcPts val="0"/>
              </a:spcAft>
            </a:pPr>
            <a:r>
              <a:rPr sz="1050" b="0">
                <a:solidFill>
                  <a:srgbClr val="14202E"/>
                </a:solidFill>
                <a:latin typeface="Segoe UI"/>
              </a:rPr>
              <a:t>Read the price and the day's high from the chart in every frame. For every trading day, keep only the moments that match ALL frames. Exactly one day and within ±90 s → use it (typically ±4 s at 1 picture per second). Otherwise say why and use our recording clock, clearly labelled.</a:t>
            </a:r>
          </a:p>
        </p:txBody>
      </p:sp>
      <p:sp>
        <p:nvSpPr>
          <p:cNvPr id="18" name="Rectangle 17"/>
          <p:cNvSpPr/>
          <p:nvPr/>
        </p:nvSpPr>
        <p:spPr>
          <a:xfrm>
            <a:off x="6720840" y="1691640"/>
            <a:ext cx="5120640" cy="1252728"/>
          </a:xfrm>
          <a:prstGeom prst="rect">
            <a:avLst/>
          </a:prstGeom>
          <a:solidFill>
            <a:srgbClr val="F7F8FA"/>
          </a:solidFill>
          <a:ln>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0">
                <a:solidFill>
                  <a:srgbClr val="14202E"/>
                </a:solidFill>
                <a:latin typeface="Consolas"/>
              </a:rPr>
              <a:t> for d in trading_days:</a:t>
            </a:r>
          </a:p>
          <a:p>
            <a:pPr algn="l"/>
            <a:r>
              <a:rPr sz="900" b="0">
                <a:solidFill>
                  <a:srgbClr val="14202E"/>
                </a:solidFill>
                <a:latin typeface="Consolas"/>
              </a:rPr>
              <a:t>   T[d] ← whole session</a:t>
            </a:r>
          </a:p>
          <a:p>
            <a:pPr algn="l"/>
            <a:r>
              <a:rPr sz="900" b="0">
                <a:solidFill>
                  <a:srgbClr val="14202E"/>
                </a:solidFill>
                <a:latin typeface="Consolas"/>
              </a:rPr>
              <a:t>   for each frame f:   p, h ← OCR(chart price, day-high label)</a:t>
            </a:r>
          </a:p>
          <a:p>
            <a:pPr algn="l"/>
            <a:r>
              <a:rPr sz="900" b="0">
                <a:solidFill>
                  <a:srgbClr val="14202E"/>
                </a:solidFill>
                <a:latin typeface="Consolas"/>
              </a:rPr>
              <a:t>     T[d] ← T[d] ∩ {τ : p ∈ bar(t_f+τ) ± 0.10</a:t>
            </a:r>
          </a:p>
          <a:p>
            <a:pPr algn="l"/>
            <a:r>
              <a:rPr sz="900" b="0">
                <a:solidFill>
                  <a:srgbClr val="14202E"/>
                </a:solidFill>
                <a:latin typeface="Consolas"/>
              </a:rPr>
              <a:t>                       and RunMax(t_f+τ) ∈ [h−1, h+1]}</a:t>
            </a:r>
          </a:p>
          <a:p>
            <a:pPr algn="l"/>
            <a:r>
              <a:rPr sz="900" b="0">
                <a:solidFill>
                  <a:srgbClr val="14202E"/>
                </a:solidFill>
                <a:latin typeface="Consolas"/>
              </a:rPr>
              <a:t> if exactly one d has T[d] ≠ ∅ and width(T[d]) ≤ ±90 s:</a:t>
            </a:r>
          </a:p>
          <a:p>
            <a:pPr algn="l"/>
            <a:r>
              <a:rPr sz="900" b="0">
                <a:solidFill>
                  <a:srgbClr val="14202E"/>
                </a:solidFill>
                <a:latin typeface="Consolas"/>
              </a:rPr>
              <a:t>   τ ← T[d]          (IDENTIFIED)</a:t>
            </a:r>
          </a:p>
          <a:p>
            <a:pPr algn="l"/>
            <a:r>
              <a:rPr sz="900" b="0">
                <a:solidFill>
                  <a:srgbClr val="14202E"/>
                </a:solidFill>
                <a:latin typeface="Consolas"/>
              </a:rPr>
              <a:t> else: τ ← capture clock ± u   (LABELLED, reason shown)</a:t>
            </a:r>
          </a:p>
        </p:txBody>
      </p:sp>
      <p:sp>
        <p:nvSpPr>
          <p:cNvPr id="19" name="Rounded Rectangle 18"/>
          <p:cNvSpPr/>
          <p:nvPr/>
        </p:nvSpPr>
        <p:spPr>
          <a:xfrm>
            <a:off x="548640" y="3017520"/>
            <a:ext cx="548640" cy="795528"/>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A</a:t>
            </a:r>
          </a:p>
        </p:txBody>
      </p:sp>
      <p:sp>
        <p:nvSpPr>
          <p:cNvPr id="20" name="Rounded Rectangle 19"/>
          <p:cNvSpPr/>
          <p:nvPr/>
        </p:nvSpPr>
        <p:spPr>
          <a:xfrm>
            <a:off x="1143000" y="3017520"/>
            <a:ext cx="1371600" cy="795528"/>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All claims</a:t>
            </a:r>
          </a:p>
        </p:txBody>
      </p:sp>
      <p:sp>
        <p:nvSpPr>
          <p:cNvPr id="21" name="TextBox 20"/>
          <p:cNvSpPr txBox="1"/>
          <p:nvPr/>
        </p:nvSpPr>
        <p:spPr>
          <a:xfrm>
            <a:off x="2606040" y="2999232"/>
            <a:ext cx="4023360" cy="868680"/>
          </a:xfrm>
          <a:prstGeom prst="rect">
            <a:avLst/>
          </a:prstGeom>
          <a:noFill/>
        </p:spPr>
        <p:txBody>
          <a:bodyPr wrap="square">
            <a:spAutoFit/>
          </a:bodyPr>
          <a:lstStyle/>
          <a:p>
            <a:pPr algn="l">
              <a:spcAft>
                <a:spcPts val="0"/>
              </a:spcAft>
            </a:pPr>
            <a:r>
              <a:rPr sz="1050" b="0">
                <a:solidFill>
                  <a:srgbClr val="14202E"/>
                </a:solidFill>
                <a:latin typeface="Segoe UI"/>
              </a:rPr>
              <a:t>Turn speech into words and read on-screen text. For every number: which stock or index, the value, how many shares, the rounding, and what kind - a price now, an old price, a target, a recommendation, a level or a self-correction.</a:t>
            </a:r>
          </a:p>
        </p:txBody>
      </p:sp>
      <p:sp>
        <p:nvSpPr>
          <p:cNvPr id="22" name="Rectangle 21"/>
          <p:cNvSpPr/>
          <p:nvPr/>
        </p:nvSpPr>
        <p:spPr>
          <a:xfrm>
            <a:off x="6720840" y="3017520"/>
            <a:ext cx="5120640" cy="795528"/>
          </a:xfrm>
          <a:prstGeom prst="rect">
            <a:avLst/>
          </a:prstGeom>
          <a:solidFill>
            <a:srgbClr val="F7F8FA"/>
          </a:solidFill>
          <a:ln>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0">
                <a:solidFill>
                  <a:srgbClr val="14202E"/>
                </a:solidFill>
                <a:latin typeface="Consolas"/>
              </a:rPr>
              <a:t> words ← ASR(audio);  text ← OCR(frames)</a:t>
            </a:r>
          </a:p>
          <a:p>
            <a:pPr algn="l"/>
            <a:r>
              <a:rPr sz="900" b="0">
                <a:solidFill>
                  <a:srgbClr val="14202E"/>
                </a:solidFill>
                <a:latin typeface="Consolas"/>
              </a:rPr>
              <a:t> for each number n in words ∪ text:</a:t>
            </a:r>
          </a:p>
          <a:p>
            <a:pPr algn="l"/>
            <a:r>
              <a:rPr sz="900" b="0">
                <a:solidFill>
                  <a:srgbClr val="14202E"/>
                </a:solidFill>
                <a:latin typeface="Consolas"/>
              </a:rPr>
              <a:t>   c ← (instrument, value P, shares q, rounding δ, kind)</a:t>
            </a:r>
          </a:p>
          <a:p>
            <a:pPr algn="l"/>
            <a:r>
              <a:rPr sz="900" b="0">
                <a:solidFill>
                  <a:srgbClr val="14202E"/>
                </a:solidFill>
                <a:latin typeface="Consolas"/>
              </a:rPr>
              <a:t>   kind ∈ {now, past, target, call, level, retracted}</a:t>
            </a:r>
          </a:p>
          <a:p>
            <a:pPr algn="l"/>
            <a:r>
              <a:rPr sz="900" b="0">
                <a:solidFill>
                  <a:srgbClr val="14202E"/>
                </a:solidFill>
                <a:latin typeface="Consolas"/>
              </a:rPr>
              <a:t>   C ← C ∪ {c}</a:t>
            </a:r>
          </a:p>
        </p:txBody>
      </p:sp>
      <p:sp>
        <p:nvSpPr>
          <p:cNvPr id="23" name="Rounded Rectangle 22"/>
          <p:cNvSpPr/>
          <p:nvPr/>
        </p:nvSpPr>
        <p:spPr>
          <a:xfrm>
            <a:off x="548640" y="3886200"/>
            <a:ext cx="548640" cy="1252728"/>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C</a:t>
            </a:r>
          </a:p>
        </p:txBody>
      </p:sp>
      <p:sp>
        <p:nvSpPr>
          <p:cNvPr id="24" name="Rounded Rectangle 23"/>
          <p:cNvSpPr/>
          <p:nvPr/>
        </p:nvSpPr>
        <p:spPr>
          <a:xfrm>
            <a:off x="1143000" y="3886200"/>
            <a:ext cx="1371600" cy="1252728"/>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Check: the 3 T's</a:t>
            </a:r>
          </a:p>
        </p:txBody>
      </p:sp>
      <p:sp>
        <p:nvSpPr>
          <p:cNvPr id="25" name="TextBox 24"/>
          <p:cNvSpPr txBox="1"/>
          <p:nvPr/>
        </p:nvSpPr>
        <p:spPr>
          <a:xfrm>
            <a:off x="2606040" y="3867912"/>
            <a:ext cx="4023360" cy="1325880"/>
          </a:xfrm>
          <a:prstGeom prst="rect">
            <a:avLst/>
          </a:prstGeom>
          <a:noFill/>
        </p:spPr>
        <p:txBody>
          <a:bodyPr wrap="square">
            <a:spAutoFit/>
          </a:bodyPr>
          <a:lstStyle/>
          <a:p>
            <a:pPr algn="l">
              <a:spcAft>
                <a:spcPts val="0"/>
              </a:spcAft>
            </a:pPr>
            <a:r>
              <a:rPr sz="1050" b="0">
                <a:solidFill>
                  <a:srgbClr val="14202E"/>
                </a:solidFill>
                <a:latin typeface="Segoe UI"/>
              </a:rPr>
              <a:t>TRADE: impossible if the market was closed, the price never traded, or more shares are claimed than all of NSE traded then. TIMING: fits if the price was recorded in the minutes before it was said; FAIL only if every reading fails (4 conditions, slide 3). TENURE: reports whether the data was 30+ days old; never FAIL.</a:t>
            </a:r>
          </a:p>
        </p:txBody>
      </p:sp>
      <p:sp>
        <p:nvSpPr>
          <p:cNvPr id="26" name="Rectangle 25"/>
          <p:cNvSpPr/>
          <p:nvPr/>
        </p:nvSpPr>
        <p:spPr>
          <a:xfrm>
            <a:off x="6720840" y="3886200"/>
            <a:ext cx="5120640" cy="1252728"/>
          </a:xfrm>
          <a:prstGeom prst="rect">
            <a:avLst/>
          </a:prstGeom>
          <a:solidFill>
            <a:srgbClr val="F7F8FA"/>
          </a:solidFill>
          <a:ln>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0">
                <a:solidFill>
                  <a:srgbClr val="14202E"/>
                </a:solidFill>
                <a:latin typeface="Consolas"/>
              </a:rPr>
              <a:t> for c in C:   m ← t_c + τ</a:t>
            </a:r>
          </a:p>
          <a:p>
            <a:pPr algn="l"/>
            <a:r>
              <a:rPr sz="900" b="0">
                <a:solidFill>
                  <a:srgbClr val="14202E"/>
                </a:solidFill>
                <a:latin typeface="Consolas"/>
              </a:rPr>
              <a:t>   TRADE : FAIL if holiday(m) or no bar near m holds P</a:t>
            </a:r>
          </a:p>
          <a:p>
            <a:pPr algn="l"/>
            <a:r>
              <a:rPr sz="900" b="0">
                <a:solidFill>
                  <a:srgbClr val="14202E"/>
                </a:solidFill>
                <a:latin typeface="Consolas"/>
              </a:rPr>
              <a:t>           or q &gt; Σ volume(bars holding P)    (NSE)</a:t>
            </a:r>
          </a:p>
          <a:p>
            <a:pPr algn="l"/>
            <a:r>
              <a:rPr sz="900" b="0">
                <a:solidFill>
                  <a:srgbClr val="14202E"/>
                </a:solidFill>
                <a:latin typeface="Consolas"/>
              </a:rPr>
              <a:t>   TIMING: ok(a) ← some bar in window W_a(m) holds P ± δ</a:t>
            </a:r>
          </a:p>
          <a:p>
            <a:pPr algn="l"/>
            <a:r>
              <a:rPr sz="900" b="0">
                <a:solidFill>
                  <a:srgbClr val="14202E"/>
                </a:solidFill>
                <a:latin typeface="Consolas"/>
              </a:rPr>
              <a:t>           FAIL if complete ∧ clear(c) ∧ ∀a: ¬ok(a)</a:t>
            </a:r>
          </a:p>
          <a:p>
            <a:pPr algn="l"/>
            <a:r>
              <a:rPr sz="900" b="0">
                <a:solidFill>
                  <a:srgbClr val="14202E"/>
                </a:solidFill>
                <a:latin typeface="Consolas"/>
              </a:rPr>
              <a:t>           PASS if ∃a: ok(a);  else ABSTAIN</a:t>
            </a:r>
          </a:p>
          <a:p>
            <a:pPr algn="l"/>
            <a:r>
              <a:rPr sz="900" b="0">
                <a:solidFill>
                  <a:srgbClr val="14202E"/>
                </a:solidFill>
                <a:latin typeface="Consolas"/>
              </a:rPr>
              <a:t>   TENURE: PASS if age ≥ 30 d;  else ABSTAIN (never FAIL)</a:t>
            </a:r>
          </a:p>
        </p:txBody>
      </p:sp>
      <p:sp>
        <p:nvSpPr>
          <p:cNvPr id="27" name="Rounded Rectangle 26"/>
          <p:cNvSpPr/>
          <p:nvPr/>
        </p:nvSpPr>
        <p:spPr>
          <a:xfrm>
            <a:off x="548640" y="5212080"/>
            <a:ext cx="548640" cy="585216"/>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T</a:t>
            </a:r>
          </a:p>
        </p:txBody>
      </p:sp>
      <p:sp>
        <p:nvSpPr>
          <p:cNvPr id="28" name="Rounded Rectangle 27"/>
          <p:cNvSpPr/>
          <p:nvPr/>
        </p:nvSpPr>
        <p:spPr>
          <a:xfrm>
            <a:off x="1143000" y="5212080"/>
            <a:ext cx="1371600" cy="585216"/>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4202E"/>
                </a:solidFill>
                <a:latin typeface="Segoe UI"/>
              </a:rPr>
              <a:t>Tell the verdict</a:t>
            </a:r>
          </a:p>
        </p:txBody>
      </p:sp>
      <p:sp>
        <p:nvSpPr>
          <p:cNvPr id="29" name="TextBox 28"/>
          <p:cNvSpPr txBox="1"/>
          <p:nvPr/>
        </p:nvSpPr>
        <p:spPr>
          <a:xfrm>
            <a:off x="2606040" y="5193792"/>
            <a:ext cx="4023360" cy="658368"/>
          </a:xfrm>
          <a:prstGeom prst="rect">
            <a:avLst/>
          </a:prstGeom>
          <a:noFill/>
        </p:spPr>
        <p:txBody>
          <a:bodyPr wrap="square">
            <a:spAutoFit/>
          </a:bodyPr>
          <a:lstStyle/>
          <a:p>
            <a:pPr algn="l">
              <a:spcAft>
                <a:spcPts val="0"/>
              </a:spcAft>
            </a:pPr>
            <a:r>
              <a:rPr sz="1050" b="0">
                <a:solidFill>
                  <a:srgbClr val="14202E"/>
                </a:solidFill>
                <a:latin typeface="Segoe UI"/>
              </a:rPr>
              <a:t>Write the certificate: every answer with the exact market minutes, words, frames and assumptions, plus a fingerprint of each data file so anyone can re-check.</a:t>
            </a:r>
          </a:p>
        </p:txBody>
      </p:sp>
      <p:sp>
        <p:nvSpPr>
          <p:cNvPr id="30" name="Rectangle 29"/>
          <p:cNvSpPr/>
          <p:nvPr/>
        </p:nvSpPr>
        <p:spPr>
          <a:xfrm>
            <a:off x="6720840" y="5212080"/>
            <a:ext cx="5120640" cy="585216"/>
          </a:xfrm>
          <a:prstGeom prst="rect">
            <a:avLst/>
          </a:prstGeom>
          <a:solidFill>
            <a:srgbClr val="F7F8FA"/>
          </a:solidFill>
          <a:ln>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0">
                <a:solidFill>
                  <a:srgbClr val="14202E"/>
                </a:solidFill>
                <a:latin typeface="Consolas"/>
              </a:rPr>
              <a:t> cert ← {verdicts, deciding bars, words, frames,</a:t>
            </a:r>
          </a:p>
          <a:p>
            <a:pPr algn="l"/>
            <a:r>
              <a:rPr sz="900" b="0">
                <a:solidFill>
                  <a:srgbClr val="14202E"/>
                </a:solidFill>
                <a:latin typeface="Consolas"/>
              </a:rPr>
              <a:t>         assumptions, sha256(data files)};   return cert</a:t>
            </a:r>
          </a:p>
        </p:txBody>
      </p:sp>
      <p:sp>
        <p:nvSpPr>
          <p:cNvPr id="31" name="Rectangle 30"/>
          <p:cNvSpPr/>
          <p:nvPr/>
        </p:nvSpPr>
        <p:spPr>
          <a:xfrm>
            <a:off x="548640" y="5989320"/>
            <a:ext cx="54864" cy="2743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943600"/>
            <a:ext cx="11109960" cy="365760"/>
          </a:xfrm>
          <a:prstGeom prst="rect">
            <a:avLst/>
          </a:prstGeom>
          <a:noFill/>
        </p:spPr>
        <p:txBody>
          <a:bodyPr wrap="square">
            <a:spAutoFit/>
          </a:bodyPr>
          <a:lstStyle/>
          <a:p>
            <a:r>
              <a:rPr sz="1100" b="1">
                <a:solidFill>
                  <a:srgbClr val="8A5A00"/>
                </a:solidFill>
                <a:latin typeface="Segoe UI"/>
              </a:rPr>
              <a:t>In plain words:  </a:t>
            </a:r>
            <a:r>
              <a:rPr sz="1100" b="0">
                <a:solidFill>
                  <a:srgbClr val="44505E"/>
                </a:solidFill>
                <a:latin typeface="Segoe UI"/>
              </a:rPr>
              <a:t>what is distinctive: (1) the rising day-high pins the clock; (2) ‘impossible’ needs EVERY reading to fail; (3) traded volume caps any claimed trade.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WORKING EXAMPLE · CNBC-TV18 · 6 OCT 2026</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1">
                <a:solidFill>
                  <a:srgbClr val="0B5C8E"/>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Worked example: one real claim from pixels to verdict</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9</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Rounded Rectangle 12"/>
          <p:cNvSpPr/>
          <p:nvPr/>
        </p:nvSpPr>
        <p:spPr>
          <a:xfrm>
            <a:off x="548640" y="1463040"/>
            <a:ext cx="1234440" cy="73152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Said</a:t>
            </a:r>
          </a:p>
        </p:txBody>
      </p:sp>
      <p:sp>
        <p:nvSpPr>
          <p:cNvPr id="14" name="Rounded Rectangle 13"/>
          <p:cNvSpPr/>
          <p:nvPr/>
        </p:nvSpPr>
        <p:spPr>
          <a:xfrm>
            <a:off x="1874519" y="1463040"/>
            <a:ext cx="4343400" cy="73152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“22,700 is where the index finds itself” - a rounded number: anything from 22,650 to 22,750</a:t>
            </a:r>
          </a:p>
        </p:txBody>
      </p:sp>
      <p:sp>
        <p:nvSpPr>
          <p:cNvPr id="15" name="Rounded Rectangle 14"/>
          <p:cNvSpPr/>
          <p:nvPr/>
        </p:nvSpPr>
        <p:spPr>
          <a:xfrm>
            <a:off x="548640" y="2331720"/>
            <a:ext cx="1234440" cy="73152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Shown</a:t>
            </a:r>
          </a:p>
        </p:txBody>
      </p:sp>
      <p:sp>
        <p:nvSpPr>
          <p:cNvPr id="16" name="Rounded Rectangle 15"/>
          <p:cNvSpPr/>
          <p:nvPr/>
        </p:nvSpPr>
        <p:spPr>
          <a:xfrm>
            <a:off x="1874519" y="2331720"/>
            <a:ext cx="4343400" cy="73152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Nifty 50 at 22,699.40 (it changes every split second; a frame earlier: 22,699.35); day's high so far 22,729</a:t>
            </a:r>
          </a:p>
        </p:txBody>
      </p:sp>
      <p:sp>
        <p:nvSpPr>
          <p:cNvPr id="17" name="Rounded Rectangle 16"/>
          <p:cNvSpPr/>
          <p:nvPr/>
        </p:nvSpPr>
        <p:spPr>
          <a:xfrm>
            <a:off x="548640" y="3200400"/>
            <a:ext cx="1234440" cy="73152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When</a:t>
            </a:r>
          </a:p>
        </p:txBody>
      </p:sp>
      <p:sp>
        <p:nvSpPr>
          <p:cNvPr id="18" name="Rounded Rectangle 17"/>
          <p:cNvSpPr/>
          <p:nvPr/>
        </p:nvSpPr>
        <p:spPr>
          <a:xfrm>
            <a:off x="1874519" y="3200400"/>
            <a:ext cx="4343400" cy="73152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of the 7 trading days in our minute data (29 Sep–8 Oct) only 6 Oct fits → said at 13:02:55, give or take 4 s</a:t>
            </a:r>
          </a:p>
        </p:txBody>
      </p:sp>
      <p:sp>
        <p:nvSpPr>
          <p:cNvPr id="19" name="Rounded Rectangle 18"/>
          <p:cNvSpPr/>
          <p:nvPr/>
        </p:nvSpPr>
        <p:spPr>
          <a:xfrm>
            <a:off x="548640" y="4069079"/>
            <a:ext cx="1234440" cy="73152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Record</a:t>
            </a:r>
          </a:p>
        </p:txBody>
      </p:sp>
      <p:sp>
        <p:nvSpPr>
          <p:cNvPr id="20" name="Rounded Rectangle 19"/>
          <p:cNvSpPr/>
          <p:nvPr/>
        </p:nvSpPr>
        <p:spPr>
          <a:xfrm>
            <a:off x="1874519" y="4069079"/>
            <a:ext cx="4343400" cy="731520"/>
          </a:xfrm>
          <a:prstGeom prst="roundRect">
            <a:avLst>
              <a:gd name="adj" fmla="val 6000"/>
            </a:avLst>
          </a:prstGeom>
          <a:solidFill>
            <a:srgbClr val="FFFFFF"/>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check from 13:02:55 − 3 min − 4 s = 12:59:51 to 13:02:55 + 4 s = 13:02:59; the 13:02 minute alone (22,693.15–22,706.20) contains 22,700</a:t>
            </a:r>
          </a:p>
        </p:txBody>
      </p:sp>
      <p:sp>
        <p:nvSpPr>
          <p:cNvPr id="21" name="Rounded Rectangle 20"/>
          <p:cNvSpPr/>
          <p:nvPr/>
        </p:nvSpPr>
        <p:spPr>
          <a:xfrm>
            <a:off x="548640" y="4937760"/>
            <a:ext cx="1234440" cy="73152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Answers</a:t>
            </a:r>
          </a:p>
        </p:txBody>
      </p:sp>
      <p:sp>
        <p:nvSpPr>
          <p:cNvPr id="22" name="Rounded Rectangle 21"/>
          <p:cNvSpPr/>
          <p:nvPr/>
        </p:nvSpPr>
        <p:spPr>
          <a:xfrm>
            <a:off x="1874519" y="4937760"/>
            <a:ext cx="4343400" cy="731520"/>
          </a:xfrm>
          <a:prstGeom prst="roundRect">
            <a:avLst>
              <a:gd name="adj" fmla="val 6000"/>
            </a:avLst>
          </a:prstGeom>
          <a:solidFill>
            <a:srgbClr val="E3F1EA"/>
          </a:solidFill>
          <a:ln w="15875">
            <a:solidFill>
              <a:srgbClr val="D9D4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4202E"/>
                </a:solidFill>
                <a:latin typeface="Segoe UI"/>
              </a:rPr>
              <a:t>TIMING PASS · TRADE can't tell (no share count said) · TENURE can't tell (depends on who the speaker is) → no check fails</a:t>
            </a:r>
          </a:p>
        </p:txBody>
      </p:sp>
      <p:pic>
        <p:nvPicPr>
          <p:cNvPr id="23" name="Picture 22" descr="fig_frame_annotated.png"/>
          <p:cNvPicPr>
            <a:picLocks noChangeAspect="1"/>
          </p:cNvPicPr>
          <p:nvPr/>
        </p:nvPicPr>
        <p:blipFill>
          <a:blip r:embed="rId3"/>
          <a:stretch>
            <a:fillRect/>
          </a:stretch>
        </p:blipFill>
        <p:spPr>
          <a:xfrm>
            <a:off x="6400800" y="1417320"/>
            <a:ext cx="5440680" cy="2224468"/>
          </a:xfrm>
          <a:prstGeom prst="rect">
            <a:avLst/>
          </a:prstGeom>
          <a:ln>
            <a:solidFill>
              <a:srgbClr val="D9D4CA"/>
            </a:solidFill>
          </a:ln>
        </p:spPr>
      </p:pic>
      <p:pic>
        <p:nvPicPr>
          <p:cNvPr id="24" name="Picture 23" descr="fig_tape_example.png"/>
          <p:cNvPicPr>
            <a:picLocks noChangeAspect="1"/>
          </p:cNvPicPr>
          <p:nvPr/>
        </p:nvPicPr>
        <p:blipFill>
          <a:blip r:embed="rId4"/>
          <a:stretch>
            <a:fillRect/>
          </a:stretch>
        </p:blipFill>
        <p:spPr>
          <a:xfrm>
            <a:off x="6840109" y="3931920"/>
            <a:ext cx="4562060" cy="2331720"/>
          </a:xfrm>
          <a:prstGeom prst="rect">
            <a:avLst/>
          </a:prstGeom>
          <a:ln>
            <a:solidFill>
              <a:srgbClr val="D9D4CA"/>
            </a:solidFill>
          </a:ln>
        </p:spPr>
      </p:pic>
      <p:sp>
        <p:nvSpPr>
          <p:cNvPr id="25" name="Rectangle 24"/>
          <p:cNvSpPr/>
          <p:nvPr/>
        </p:nvSpPr>
        <p:spPr>
          <a:xfrm>
            <a:off x="548640" y="5943600"/>
            <a:ext cx="54864" cy="36576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97880"/>
            <a:ext cx="5623559" cy="457200"/>
          </a:xfrm>
          <a:prstGeom prst="rect">
            <a:avLst/>
          </a:prstGeom>
          <a:noFill/>
        </p:spPr>
        <p:txBody>
          <a:bodyPr wrap="square">
            <a:spAutoFit/>
          </a:bodyPr>
          <a:lstStyle/>
          <a:p>
            <a:r>
              <a:rPr sz="1200" b="1">
                <a:solidFill>
                  <a:srgbClr val="8A5A00"/>
                </a:solidFill>
                <a:latin typeface="Segoe UI"/>
              </a:rPr>
              <a:t>In plain words:  </a:t>
            </a:r>
            <a:r>
              <a:rPr sz="1200" b="0">
                <a:solidFill>
                  <a:srgbClr val="44505E"/>
                </a:solidFill>
                <a:latin typeface="Segoe UI"/>
              </a:rPr>
              <a:t>22,700 was within the range the market recorded at that minute - so it fits. That is all a PASS says.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EXPERIMENTAL SETUP</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1">
                <a:solidFill>
                  <a:srgbClr val="0B5C8E"/>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How we tested it: six experiments, each answering one question</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10</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graphicFrame>
        <p:nvGraphicFramePr>
          <p:cNvPr id="13" name="Table 12"/>
          <p:cNvGraphicFramePr>
            <a:graphicFrameLocks noGrp="1"/>
          </p:cNvGraphicFramePr>
          <p:nvPr/>
        </p:nvGraphicFramePr>
        <p:xfrm>
          <a:off x="548640" y="1463040"/>
          <a:ext cx="11155680" cy="3328416"/>
        </p:xfrm>
        <a:graphic>
          <a:graphicData uri="http://schemas.openxmlformats.org/drawingml/2006/table">
            <a:tbl>
              <a:tblPr firstRow="1" bandRow="1">
                <a:tableStyleId>{5C22544A-7EE6-4342-B048-85BDC9FD1C3A}</a:tableStyleId>
              </a:tblPr>
              <a:tblGrid>
                <a:gridCol w="548640"/>
                <a:gridCol w="3657600"/>
                <a:gridCol w="4572000"/>
                <a:gridCol w="2377440"/>
              </a:tblGrid>
              <a:tr h="475488">
                <a:tc>
                  <a:txBody>
                    <a:bodyPr wrap="square"/>
                    <a:lstStyle/>
                    <a:p>
                      <a:r>
                        <a:rPr sz="1200" b="1">
                          <a:solidFill>
                            <a:srgbClr val="FFFFFF"/>
                          </a:solidFill>
                          <a:latin typeface="Segoe UI"/>
                        </a:rPr>
                        <a:t/>
                      </a:r>
                    </a:p>
                  </a:txBody>
                  <a:tcPr marL="54864" marR="54864" marT="27432" marB="27432">
                    <a:solidFill>
                      <a:srgbClr val="1F4E79"/>
                    </a:solidFill>
                  </a:tcPr>
                </a:tc>
                <a:tc>
                  <a:txBody>
                    <a:bodyPr wrap="square"/>
                    <a:lstStyle/>
                    <a:p>
                      <a:r>
                        <a:rPr sz="1200" b="1">
                          <a:solidFill>
                            <a:srgbClr val="FFFFFF"/>
                          </a:solidFill>
                          <a:latin typeface="Segoe UI"/>
                        </a:rPr>
                        <a:t>Question</a:t>
                      </a:r>
                    </a:p>
                  </a:txBody>
                  <a:tcPr marL="54864" marR="54864" marT="27432" marB="27432">
                    <a:solidFill>
                      <a:srgbClr val="1F4E79"/>
                    </a:solidFill>
                  </a:tcPr>
                </a:tc>
                <a:tc>
                  <a:txBody>
                    <a:bodyPr wrap="square"/>
                    <a:lstStyle/>
                    <a:p>
                      <a:r>
                        <a:rPr sz="1200" b="1">
                          <a:solidFill>
                            <a:srgbClr val="FFFFFF"/>
                          </a:solidFill>
                          <a:latin typeface="Segoe UI"/>
                        </a:rPr>
                        <a:t>Data (how many)</a:t>
                      </a:r>
                    </a:p>
                  </a:txBody>
                  <a:tcPr marL="54864" marR="54864" marT="27432" marB="27432">
                    <a:solidFill>
                      <a:srgbClr val="1F4E79"/>
                    </a:solidFill>
                  </a:tcPr>
                </a:tc>
                <a:tc>
                  <a:txBody>
                    <a:bodyPr wrap="square"/>
                    <a:lstStyle/>
                    <a:p>
                      <a:r>
                        <a:rPr sz="1200" b="1">
                          <a:solidFill>
                            <a:srgbClr val="FFFFFF"/>
                          </a:solidFill>
                          <a:latin typeface="Segoe UI"/>
                        </a:rPr>
                        <a:t>Kind of evidence</a:t>
                      </a:r>
                    </a:p>
                  </a:txBody>
                  <a:tcPr marL="54864" marR="54864" marT="27432" marB="27432">
                    <a:solidFill>
                      <a:srgbClr val="1F4E79"/>
                    </a:solidFill>
                  </a:tcPr>
                </a:tc>
              </a:tr>
              <a:tr h="475488">
                <a:tc>
                  <a:txBody>
                    <a:bodyPr wrap="square"/>
                    <a:lstStyle/>
                    <a:p>
                      <a:r>
                        <a:rPr sz="1200" b="0">
                          <a:solidFill>
                            <a:srgbClr val="14202E"/>
                          </a:solidFill>
                          <a:latin typeface="Segoe UI"/>
                        </a:rPr>
                        <a:t>E1</a:t>
                      </a:r>
                    </a:p>
                  </a:txBody>
                  <a:tcPr marL="54864" marR="54864" marT="27432" marB="27432">
                    <a:solidFill>
                      <a:srgbClr val="FFFFFF"/>
                    </a:solidFill>
                  </a:tcPr>
                </a:tc>
                <a:tc>
                  <a:txBody>
                    <a:bodyPr wrap="square"/>
                    <a:lstStyle/>
                    <a:p>
                      <a:r>
                        <a:rPr sz="1200" b="0">
                          <a:solidFill>
                            <a:srgbClr val="14202E"/>
                          </a:solidFill>
                          <a:latin typeface="Segoe UI"/>
                        </a:rPr>
                        <a:t>Can the scrolling ticker text be trusted?</a:t>
                      </a:r>
                    </a:p>
                  </a:txBody>
                  <a:tcPr marL="54864" marR="54864" marT="27432" marB="27432">
                    <a:solidFill>
                      <a:srgbClr val="FFFFFF"/>
                    </a:solidFill>
                  </a:tcPr>
                </a:tc>
                <a:tc>
                  <a:txBody>
                    <a:bodyPr wrap="square"/>
                    <a:lstStyle/>
                    <a:p>
                      <a:r>
                        <a:rPr sz="1200" b="0">
                          <a:solidFill>
                            <a:srgbClr val="14202E"/>
                          </a:solidFill>
                          <a:latin typeface="Segoe UI"/>
                        </a:rPr>
                        <a:t>8 NDTV Profit recordings</a:t>
                      </a:r>
                    </a:p>
                  </a:txBody>
                  <a:tcPr marL="54864" marR="54864" marT="27432" marB="27432">
                    <a:solidFill>
                      <a:srgbClr val="FFFFFF"/>
                    </a:solidFill>
                  </a:tcPr>
                </a:tc>
                <a:tc>
                  <a:txBody>
                    <a:bodyPr wrap="square"/>
                    <a:lstStyle/>
                    <a:p>
                      <a:r>
                        <a:rPr sz="1200" b="0">
                          <a:solidFill>
                            <a:srgbClr val="14202E"/>
                          </a:solidFill>
                          <a:latin typeface="Segoe UI"/>
                        </a:rPr>
                        <a:t>real</a:t>
                      </a:r>
                    </a:p>
                  </a:txBody>
                  <a:tcPr marL="54864" marR="54864" marT="27432" marB="27432">
                    <a:solidFill>
                      <a:srgbClr val="FFFFFF"/>
                    </a:solidFill>
                  </a:tcPr>
                </a:tc>
              </a:tr>
              <a:tr h="475488">
                <a:tc>
                  <a:txBody>
                    <a:bodyPr wrap="square"/>
                    <a:lstStyle/>
                    <a:p>
                      <a:r>
                        <a:rPr sz="1200" b="0">
                          <a:solidFill>
                            <a:srgbClr val="14202E"/>
                          </a:solidFill>
                          <a:latin typeface="Segoe UI"/>
                        </a:rPr>
                        <a:t>E2</a:t>
                      </a:r>
                    </a:p>
                  </a:txBody>
                  <a:tcPr marL="54864" marR="54864" marT="27432" marB="27432">
                    <a:solidFill>
                      <a:srgbClr val="F4F6F8"/>
                    </a:solidFill>
                  </a:tcPr>
                </a:tc>
                <a:tc>
                  <a:txBody>
                    <a:bodyPr wrap="square"/>
                    <a:lstStyle/>
                    <a:p>
                      <a:r>
                        <a:rPr sz="1200" b="0">
                          <a:solidFill>
                            <a:srgbClr val="14202E"/>
                          </a:solidFill>
                          <a:latin typeface="Segoe UI"/>
                        </a:rPr>
                        <a:t>When the system says FAIL, is it right?</a:t>
                      </a:r>
                    </a:p>
                  </a:txBody>
                  <a:tcPr marL="54864" marR="54864" marT="27432" marB="27432">
                    <a:solidFill>
                      <a:srgbClr val="F4F6F8"/>
                    </a:solidFill>
                  </a:tcPr>
                </a:tc>
                <a:tc>
                  <a:txBody>
                    <a:bodyPr wrap="square"/>
                    <a:lstStyle/>
                    <a:p>
                      <a:r>
                        <a:rPr sz="1200" b="0">
                          <a:solidFill>
                            <a:srgbClr val="14202E"/>
                          </a:solidFill>
                          <a:latin typeface="Segoe UI"/>
                        </a:rPr>
                        <a:t>8 TV days it never saw · all 105 of its firm answers judged (37 FAIL + 68 PASS). The first version also judged old prices, levels and targets (55 of the 105) - that was its mistake; the final version does not</a:t>
                      </a:r>
                    </a:p>
                  </a:txBody>
                  <a:tcPr marL="54864" marR="54864" marT="27432" marB="27432">
                    <a:solidFill>
                      <a:srgbClr val="F4F6F8"/>
                    </a:solidFill>
                  </a:tcPr>
                </a:tc>
                <a:tc>
                  <a:txBody>
                    <a:bodyPr wrap="square"/>
                    <a:lstStyle/>
                    <a:p>
                      <a:r>
                        <a:rPr sz="1200" b="0">
                          <a:solidFill>
                            <a:srgbClr val="14202E"/>
                          </a:solidFill>
                          <a:latin typeface="Segoe UI"/>
                        </a:rPr>
                        <a:t>fair test of the first version; then fixes made on those days (weaker)</a:t>
                      </a:r>
                    </a:p>
                  </a:txBody>
                  <a:tcPr marL="54864" marR="54864" marT="27432" marB="27432">
                    <a:solidFill>
                      <a:srgbClr val="F4F6F8"/>
                    </a:solidFill>
                  </a:tcPr>
                </a:tc>
              </a:tr>
              <a:tr h="475488">
                <a:tc>
                  <a:txBody>
                    <a:bodyPr wrap="square"/>
                    <a:lstStyle/>
                    <a:p>
                      <a:r>
                        <a:rPr sz="1200" b="0">
                          <a:solidFill>
                            <a:srgbClr val="14202E"/>
                          </a:solidFill>
                          <a:latin typeface="Segoe UI"/>
                        </a:rPr>
                        <a:t>E3</a:t>
                      </a:r>
                    </a:p>
                  </a:txBody>
                  <a:tcPr marL="54864" marR="54864" marT="27432" marB="27432">
                    <a:solidFill>
                      <a:srgbClr val="FFFFFF"/>
                    </a:solidFill>
                  </a:tcPr>
                </a:tc>
                <a:tc>
                  <a:txBody>
                    <a:bodyPr wrap="square"/>
                    <a:lstStyle/>
                    <a:p>
                      <a:r>
                        <a:rPr sz="1200" b="0">
                          <a:solidFill>
                            <a:srgbClr val="14202E"/>
                          </a:solidFill>
                          <a:latin typeface="Segoe UI"/>
                        </a:rPr>
                        <a:t>Are deliberately changed numbers caught?</a:t>
                      </a:r>
                    </a:p>
                  </a:txBody>
                  <a:tcPr marL="54864" marR="54864" marT="27432" marB="27432">
                    <a:solidFill>
                      <a:srgbClr val="FFFFFF"/>
                    </a:solidFill>
                  </a:tcPr>
                </a:tc>
                <a:tc>
                  <a:txBody>
                    <a:bodyPr wrap="square"/>
                    <a:lstStyle/>
                    <a:p>
                      <a:r>
                        <a:rPr sz="1200" b="0">
                          <a:solidFill>
                            <a:srgbClr val="14202E"/>
                          </a:solidFill>
                          <a:latin typeface="Segoe UI"/>
                        </a:rPr>
                        <a:t>50 real quotes the system had passed, each changed several ways: 29 exact quotes × 3 changes = 87; 21 ‘above/below’ quotes × 2 = 42; moved to the day before: 29 + 21</a:t>
                      </a:r>
                    </a:p>
                  </a:txBody>
                  <a:tcPr marL="54864" marR="54864" marT="27432" marB="27432">
                    <a:solidFill>
                      <a:srgbClr val="FFFFFF"/>
                    </a:solidFill>
                  </a:tcPr>
                </a:tc>
                <a:tc>
                  <a:txBody>
                    <a:bodyPr wrap="square"/>
                    <a:lstStyle/>
                    <a:p>
                      <a:r>
                        <a:rPr sz="1200" b="0">
                          <a:solidFill>
                            <a:srgbClr val="14202E"/>
                          </a:solidFill>
                          <a:latin typeface="Segoe UI"/>
                        </a:rPr>
                        <a:t>made-up changes</a:t>
                      </a:r>
                    </a:p>
                  </a:txBody>
                  <a:tcPr marL="54864" marR="54864" marT="27432" marB="27432">
                    <a:solidFill>
                      <a:srgbClr val="FFFFFF"/>
                    </a:solidFill>
                  </a:tcPr>
                </a:tc>
              </a:tr>
              <a:tr h="475488">
                <a:tc>
                  <a:txBody>
                    <a:bodyPr wrap="square"/>
                    <a:lstStyle/>
                    <a:p>
                      <a:r>
                        <a:rPr sz="1200" b="0">
                          <a:solidFill>
                            <a:srgbClr val="14202E"/>
                          </a:solidFill>
                          <a:latin typeface="Segoe UI"/>
                        </a:rPr>
                        <a:t>E4</a:t>
                      </a:r>
                    </a:p>
                  </a:txBody>
                  <a:tcPr marL="54864" marR="54864" marT="27432" marB="27432">
                    <a:solidFill>
                      <a:srgbClr val="F4F6F8"/>
                    </a:solidFill>
                  </a:tcPr>
                </a:tc>
                <a:tc>
                  <a:txBody>
                    <a:bodyPr wrap="square"/>
                    <a:lstStyle/>
                    <a:p>
                      <a:r>
                        <a:rPr sz="1200" b="0">
                          <a:solidFill>
                            <a:srgbClr val="14202E"/>
                          </a:solidFill>
                          <a:latin typeface="Segoe UI"/>
                        </a:rPr>
                        <a:t>How fast? How much memory?</a:t>
                      </a:r>
                    </a:p>
                  </a:txBody>
                  <a:tcPr marL="54864" marR="54864" marT="27432" marB="27432">
                    <a:solidFill>
                      <a:srgbClr val="F4F6F8"/>
                    </a:solidFill>
                  </a:tcPr>
                </a:tc>
                <a:tc>
                  <a:txBody>
                    <a:bodyPr wrap="square"/>
                    <a:lstStyle/>
                    <a:p>
                      <a:r>
                        <a:rPr sz="1200" b="0">
                          <a:solidFill>
                            <a:srgbClr val="14202E"/>
                          </a:solidFill>
                          <a:latin typeface="Segoe UI"/>
                        </a:rPr>
                        <a:t>demo clips; 5.2 hours of audio</a:t>
                      </a:r>
                    </a:p>
                  </a:txBody>
                  <a:tcPr marL="54864" marR="54864" marT="27432" marB="27432">
                    <a:solidFill>
                      <a:srgbClr val="F4F6F8"/>
                    </a:solidFill>
                  </a:tcPr>
                </a:tc>
                <a:tc>
                  <a:txBody>
                    <a:bodyPr wrap="square"/>
                    <a:lstStyle/>
                    <a:p>
                      <a:r>
                        <a:rPr sz="1200" b="0">
                          <a:solidFill>
                            <a:srgbClr val="14202E"/>
                          </a:solidFill>
                          <a:latin typeface="Segoe UI"/>
                        </a:rPr>
                        <a:t>measured on a laptop</a:t>
                      </a:r>
                    </a:p>
                  </a:txBody>
                  <a:tcPr marL="54864" marR="54864" marT="27432" marB="27432">
                    <a:solidFill>
                      <a:srgbClr val="F4F6F8"/>
                    </a:solidFill>
                  </a:tcPr>
                </a:tc>
              </a:tr>
              <a:tr h="475488">
                <a:tc>
                  <a:txBody>
                    <a:bodyPr wrap="square"/>
                    <a:lstStyle/>
                    <a:p>
                      <a:r>
                        <a:rPr sz="1200" b="0">
                          <a:solidFill>
                            <a:srgbClr val="14202E"/>
                          </a:solidFill>
                          <a:latin typeface="Segoe UI"/>
                        </a:rPr>
                        <a:t>E5</a:t>
                      </a:r>
                    </a:p>
                  </a:txBody>
                  <a:tcPr marL="54864" marR="54864" marT="27432" marB="27432">
                    <a:solidFill>
                      <a:srgbClr val="FFFFFF"/>
                    </a:solidFill>
                  </a:tcPr>
                </a:tc>
                <a:tc>
                  <a:txBody>
                    <a:bodyPr wrap="square"/>
                    <a:lstStyle/>
                    <a:p>
                      <a:r>
                        <a:rPr sz="1200" b="0">
                          <a:solidFill>
                            <a:srgbClr val="14202E"/>
                          </a:solidFill>
                          <a:latin typeface="Segoe UI"/>
                        </a:rPr>
                        <a:t>Is the date right? Does the time match a separate clock?</a:t>
                      </a:r>
                    </a:p>
                  </a:txBody>
                  <a:tcPr marL="54864" marR="54864" marT="27432" marB="27432">
                    <a:solidFill>
                      <a:srgbClr val="FFFFFF"/>
                    </a:solidFill>
                  </a:tcPr>
                </a:tc>
                <a:tc>
                  <a:txBody>
                    <a:bodyPr wrap="square"/>
                    <a:lstStyle/>
                    <a:p>
                      <a:r>
                        <a:rPr sz="1200" b="0">
                          <a:solidFill>
                            <a:srgbClr val="14202E"/>
                          </a:solidFill>
                          <a:latin typeface="Segoe UI"/>
                        </a:rPr>
                        <a:t>4 full 20-minute recordings, one picture every 10 seconds</a:t>
                      </a:r>
                    </a:p>
                  </a:txBody>
                  <a:tcPr marL="54864" marR="54864" marT="27432" marB="27432">
                    <a:solidFill>
                      <a:srgbClr val="FFFFFF"/>
                    </a:solidFill>
                  </a:tcPr>
                </a:tc>
                <a:tc>
                  <a:txBody>
                    <a:bodyPr wrap="square"/>
                    <a:lstStyle/>
                    <a:p>
                      <a:r>
                        <a:rPr sz="1200" b="0">
                          <a:solidFill>
                            <a:srgbClr val="14202E"/>
                          </a:solidFill>
                          <a:latin typeface="Segoe UI"/>
                        </a:rPr>
                        <a:t>real</a:t>
                      </a:r>
                    </a:p>
                  </a:txBody>
                  <a:tcPr marL="54864" marR="54864" marT="27432" marB="27432">
                    <a:solidFill>
                      <a:srgbClr val="FFFFFF"/>
                    </a:solidFill>
                  </a:tcPr>
                </a:tc>
              </a:tr>
              <a:tr h="475488">
                <a:tc>
                  <a:txBody>
                    <a:bodyPr wrap="square"/>
                    <a:lstStyle/>
                    <a:p>
                      <a:r>
                        <a:rPr sz="1200" b="0">
                          <a:solidFill>
                            <a:srgbClr val="14202E"/>
                          </a:solidFill>
                          <a:latin typeface="Segoe UI"/>
                        </a:rPr>
                        <a:t>E6</a:t>
                      </a:r>
                    </a:p>
                  </a:txBody>
                  <a:tcPr marL="54864" marR="54864" marT="27432" marB="27432">
                    <a:solidFill>
                      <a:srgbClr val="F4F6F8"/>
                    </a:solidFill>
                  </a:tcPr>
                </a:tc>
                <a:tc>
                  <a:txBody>
                    <a:bodyPr wrap="square"/>
                    <a:lstStyle/>
                    <a:p>
                      <a:r>
                        <a:rPr sz="1200" b="0">
                          <a:solidFill>
                            <a:srgbClr val="14202E"/>
                          </a:solidFill>
                          <a:latin typeface="Segoe UI"/>
                        </a:rPr>
                        <a:t>Does the chart's day-high matter?</a:t>
                      </a:r>
                    </a:p>
                  </a:txBody>
                  <a:tcPr marL="54864" marR="54864" marT="27432" marB="27432">
                    <a:solidFill>
                      <a:srgbClr val="F4F6F8"/>
                    </a:solidFill>
                  </a:tcPr>
                </a:tc>
                <a:tc>
                  <a:txBody>
                    <a:bodyPr wrap="square"/>
                    <a:lstStyle/>
                    <a:p>
                      <a:r>
                        <a:rPr sz="1200" b="0">
                          <a:solidFill>
                            <a:srgbClr val="14202E"/>
                          </a:solidFill>
                          <a:latin typeface="Segoe UI"/>
                        </a:rPr>
                        <a:t>the same 4 recordings + 2 short clips</a:t>
                      </a:r>
                    </a:p>
                  </a:txBody>
                  <a:tcPr marL="54864" marR="54864" marT="27432" marB="27432">
                    <a:solidFill>
                      <a:srgbClr val="F4F6F8"/>
                    </a:solidFill>
                  </a:tcPr>
                </a:tc>
                <a:tc>
                  <a:txBody>
                    <a:bodyPr wrap="square"/>
                    <a:lstStyle/>
                    <a:p>
                      <a:r>
                        <a:rPr sz="1200" b="0">
                          <a:solidFill>
                            <a:srgbClr val="14202E"/>
                          </a:solidFill>
                          <a:latin typeface="Segoe UI"/>
                        </a:rPr>
                        <a:t>real; run again with the day-high ignored</a:t>
                      </a:r>
                    </a:p>
                  </a:txBody>
                  <a:tcPr marL="54864" marR="54864" marT="27432" marB="27432">
                    <a:solidFill>
                      <a:srgbClr val="F4F6F8"/>
                    </a:solidFill>
                  </a:tcPr>
                </a:tc>
              </a:tr>
            </a:tbl>
          </a:graphicData>
        </a:graphic>
      </p:graphicFrame>
      <p:sp>
        <p:nvSpPr>
          <p:cNvPr id="14" name="TextBox 13"/>
          <p:cNvSpPr txBox="1"/>
          <p:nvPr/>
        </p:nvSpPr>
        <p:spPr>
          <a:xfrm>
            <a:off x="548640" y="5138928"/>
            <a:ext cx="11155680" cy="1280160"/>
          </a:xfrm>
          <a:prstGeom prst="rect">
            <a:avLst/>
          </a:prstGeom>
          <a:noFill/>
        </p:spPr>
        <p:txBody>
          <a:bodyPr wrap="square">
            <a:spAutoFit/>
          </a:bodyPr>
          <a:lstStyle/>
          <a:p>
            <a:pPr algn="l">
              <a:spcAft>
                <a:spcPts val="800"/>
              </a:spcAft>
            </a:pPr>
            <a:r>
              <a:rPr sz="1050" b="1">
                <a:solidFill>
                  <a:srgbClr val="14202E"/>
                </a:solidFill>
                <a:latin typeface="Segoe UI"/>
              </a:rPr>
              <a:t>Fair test (‘held-out’): </a:t>
            </a:r>
            <a:r>
              <a:rPr sz="1050" b="0">
                <a:solidFill>
                  <a:srgbClr val="14202E"/>
                </a:solidFill>
                <a:latin typeface="Segoe UI"/>
              </a:rPr>
              <a:t>scored on data never used while building, with the system locked (‘frozen’). After fixing on the same data: weaker evidence.</a:t>
            </a:r>
          </a:p>
          <a:p>
            <a:pPr algn="l">
              <a:spcAft>
                <a:spcPts val="800"/>
              </a:spcAft>
            </a:pPr>
            <a:r>
              <a:rPr sz="1050" b="1">
                <a:solidFill>
                  <a:srgbClr val="14202E"/>
                </a:solidFill>
                <a:latin typeface="Segoe UI"/>
              </a:rPr>
              <a:t>Who judged right or wrong: </a:t>
            </a:r>
            <a:r>
              <a:rPr sz="1050" b="0">
                <a:solidFill>
                  <a:srgbClr val="14202E"/>
                </a:solidFill>
                <a:latin typeface="Segoe UI"/>
              </a:rPr>
              <a:t>a separate AI model given only each sentence, never our answers - not human experts (a stated limitation).</a:t>
            </a:r>
          </a:p>
          <a:p>
            <a:pPr algn="l">
              <a:spcAft>
                <a:spcPts val="800"/>
              </a:spcAft>
            </a:pPr>
            <a:r>
              <a:rPr sz="1050" b="1">
                <a:solidFill>
                  <a:srgbClr val="14202E"/>
                </a:solidFill>
                <a:latin typeface="Segoe UI"/>
              </a:rPr>
              <a:t>Compared against (‘baselines’ = simpler methods): </a:t>
            </a:r>
            <a:r>
              <a:rPr sz="1050" b="0">
                <a:solidFill>
                  <a:srgbClr val="14202E"/>
                </a:solidFill>
                <a:latin typeface="Segoe UI"/>
              </a:rPr>
              <a:t>our locked first version (slide 11) · dating by price only (slide 12) · a simpler ticker rule (slide 12) · our recording computer's clock (slide 11).</a:t>
            </a:r>
          </a:p>
          <a:p>
            <a:pPr algn="l">
              <a:spcAft>
                <a:spcPts val="800"/>
              </a:spcAft>
            </a:pPr>
            <a:r>
              <a:rPr sz="1050" b="1">
                <a:solidFill>
                  <a:srgbClr val="14202E"/>
                </a:solidFill>
                <a:latin typeface="Segoe UI"/>
              </a:rPr>
              <a:t>Equipment and data: </a:t>
            </a:r>
            <a:r>
              <a:rPr sz="1050" b="0">
                <a:solidFill>
                  <a:srgbClr val="14202E"/>
                </a:solidFill>
                <a:latin typeface="Segoe UI"/>
              </a:rPr>
              <a:t>an ordinary laptop, no graphics card · NSE prices per minute from Yahoo Finance.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QUANTITATIVE RESULTS</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1">
                <a:solidFill>
                  <a:srgbClr val="0B5C8E"/>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000" b="1">
                <a:solidFill>
                  <a:srgbClr val="14202E"/>
                </a:solidFill>
                <a:latin typeface="Segoe UI"/>
              </a:rPr>
              <a:t>Our own careless first version was almost always wrong when it said ‘impossible’</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11</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pic>
        <p:nvPicPr>
          <p:cNvPr id="13" name="Picture 12" descr="fig_fail_counts.png"/>
          <p:cNvPicPr>
            <a:picLocks noChangeAspect="1"/>
          </p:cNvPicPr>
          <p:nvPr/>
        </p:nvPicPr>
        <p:blipFill>
          <a:blip r:embed="rId3"/>
          <a:stretch>
            <a:fillRect/>
          </a:stretch>
        </p:blipFill>
        <p:spPr>
          <a:xfrm>
            <a:off x="548640" y="1417320"/>
            <a:ext cx="5120640" cy="2048256"/>
          </a:xfrm>
          <a:prstGeom prst="rect">
            <a:avLst/>
          </a:prstGeom>
          <a:ln>
            <a:solidFill>
              <a:srgbClr val="D9D4CA"/>
            </a:solidFill>
          </a:ln>
        </p:spPr>
      </p:pic>
      <p:sp>
        <p:nvSpPr>
          <p:cNvPr id="14" name="TextBox 13"/>
          <p:cNvSpPr txBox="1"/>
          <p:nvPr/>
        </p:nvSpPr>
        <p:spPr>
          <a:xfrm>
            <a:off x="548640" y="3611880"/>
            <a:ext cx="5120640" cy="411480"/>
          </a:xfrm>
          <a:prstGeom prst="rect">
            <a:avLst/>
          </a:prstGeom>
          <a:noFill/>
        </p:spPr>
        <p:txBody>
          <a:bodyPr wrap="square">
            <a:spAutoFit/>
          </a:bodyPr>
          <a:lstStyle/>
          <a:p>
            <a:pPr algn="l">
              <a:spcAft>
                <a:spcPts val="0"/>
              </a:spcAft>
            </a:pPr>
            <a:r>
              <a:rPr sz="1000" b="0">
                <a:solidFill>
                  <a:srgbClr val="8A939C"/>
                </a:solidFill>
                <a:latin typeface="Segoe UI"/>
              </a:rPr>
              <a:t>How to read: bar length = number of ‘impossible’ (FAIL) answers; green = right, red = wrong because the sentence was misunderstood.</a:t>
            </a:r>
          </a:p>
        </p:txBody>
      </p:sp>
      <p:sp>
        <p:nvSpPr>
          <p:cNvPr id="15" name="TextBox 14"/>
          <p:cNvSpPr txBox="1"/>
          <p:nvPr/>
        </p:nvSpPr>
        <p:spPr>
          <a:xfrm>
            <a:off x="548640" y="4023360"/>
            <a:ext cx="5120640" cy="1828800"/>
          </a:xfrm>
          <a:prstGeom prst="rect">
            <a:avLst/>
          </a:prstGeom>
          <a:noFill/>
        </p:spPr>
        <p:txBody>
          <a:bodyPr wrap="square">
            <a:spAutoFit/>
          </a:bodyPr>
          <a:lstStyle/>
          <a:p>
            <a:pPr algn="l">
              <a:spcAft>
                <a:spcPts val="800"/>
              </a:spcAft>
            </a:pPr>
            <a:r>
              <a:rPr sz="1200" b="1">
                <a:solidFill>
                  <a:srgbClr val="14202E"/>
                </a:solidFill>
                <a:latin typeface="Segoe UI"/>
              </a:rPr>
              <a:t>Fair test, first version: </a:t>
            </a:r>
            <a:r>
              <a:rPr sz="1200" b="0">
                <a:solidFill>
                  <a:srgbClr val="14202E"/>
                </a:solidFill>
                <a:latin typeface="Segoe UI"/>
              </a:rPr>
              <a:t>FAIL right 1 of 37 times</a:t>
            </a:r>
          </a:p>
          <a:p>
            <a:pPr algn="l">
              <a:spcAft>
                <a:spcPts val="800"/>
              </a:spcAft>
            </a:pPr>
            <a:r>
              <a:rPr sz="1200" b="1">
                <a:solidFill>
                  <a:srgbClr val="14202E"/>
                </a:solidFill>
                <a:latin typeface="Segoe UI"/>
              </a:rPr>
              <a:t>After the fixes (same days - weaker): </a:t>
            </a:r>
            <a:r>
              <a:rPr sz="1200" b="0">
                <a:solidFill>
                  <a:srgbClr val="14202E"/>
                </a:solidFill>
                <a:latin typeface="Segoe UI"/>
              </a:rPr>
              <a:t>1 FAIL, and it is right · of 50 real ‘price now’ statements: 43 PASS · 1 FAIL · 6 ABSTAIN</a:t>
            </a:r>
          </a:p>
          <a:p>
            <a:pPr algn="l">
              <a:spcAft>
                <a:spcPts val="800"/>
              </a:spcAft>
            </a:pPr>
            <a:r>
              <a:rPr sz="1200" b="1">
                <a:solidFill>
                  <a:srgbClr val="14202E"/>
                </a:solidFill>
                <a:latin typeface="Segoe UI"/>
              </a:rPr>
              <a:t>That 1 FAIL: </a:t>
            </a:r>
            <a:r>
              <a:rPr sz="1200" b="0">
                <a:solidFill>
                  <a:srgbClr val="14202E"/>
                </a:solidFill>
                <a:latin typeface="Segoe UI"/>
              </a:rPr>
              <a:t>captions say ‘24,616.6’, the record says 22,616.6 - impossible as written</a:t>
            </a:r>
          </a:p>
        </p:txBody>
      </p:sp>
      <p:graphicFrame>
        <p:nvGraphicFramePr>
          <p:cNvPr id="16" name="Table 15"/>
          <p:cNvGraphicFramePr>
            <a:graphicFrameLocks noGrp="1"/>
          </p:cNvGraphicFramePr>
          <p:nvPr/>
        </p:nvGraphicFramePr>
        <p:xfrm>
          <a:off x="5897880" y="1417320"/>
          <a:ext cx="5897880" cy="4224528"/>
        </p:xfrm>
        <a:graphic>
          <a:graphicData uri="http://schemas.openxmlformats.org/drawingml/2006/table">
            <a:tbl>
              <a:tblPr firstRow="1" bandRow="1">
                <a:tableStyleId>{5C22544A-7EE6-4342-B048-85BDC9FD1C3A}</a:tableStyleId>
              </a:tblPr>
              <a:tblGrid>
                <a:gridCol w="2651760"/>
                <a:gridCol w="3246120"/>
              </a:tblGrid>
              <a:tr h="384048">
                <a:tc>
                  <a:txBody>
                    <a:bodyPr wrap="square"/>
                    <a:lstStyle/>
                    <a:p>
                      <a:r>
                        <a:rPr sz="1000" b="1">
                          <a:solidFill>
                            <a:srgbClr val="FFFFFF"/>
                          </a:solidFill>
                          <a:latin typeface="Segoe UI"/>
                        </a:rPr>
                        <a:t>Test</a:t>
                      </a:r>
                    </a:p>
                  </a:txBody>
                  <a:tcPr marL="54864" marR="54864" marT="27432" marB="27432">
                    <a:solidFill>
                      <a:srgbClr val="1F4E79"/>
                    </a:solidFill>
                  </a:tcPr>
                </a:tc>
                <a:tc>
                  <a:txBody>
                    <a:bodyPr wrap="square"/>
                    <a:lstStyle/>
                    <a:p>
                      <a:r>
                        <a:rPr sz="1000" b="1">
                          <a:solidFill>
                            <a:srgbClr val="FFFFFF"/>
                          </a:solidFill>
                          <a:latin typeface="Segoe UI"/>
                        </a:rPr>
                        <a:t>Result  [95 % range]</a:t>
                      </a:r>
                    </a:p>
                  </a:txBody>
                  <a:tcPr marL="54864" marR="54864" marT="27432" marB="27432">
                    <a:solidFill>
                      <a:srgbClr val="1F4E79"/>
                    </a:solidFill>
                  </a:tcPr>
                </a:tc>
              </a:tr>
              <a:tr h="384048">
                <a:tc>
                  <a:txBody>
                    <a:bodyPr wrap="square"/>
                    <a:lstStyle/>
                    <a:p>
                      <a:r>
                        <a:rPr sz="1000" b="0">
                          <a:solidFill>
                            <a:srgbClr val="14202E"/>
                          </a:solidFill>
                          <a:latin typeface="Segoe UI"/>
                        </a:rPr>
                        <a:t>Exact quotes changed by ±2 %, +5 % (made up)</a:t>
                      </a:r>
                    </a:p>
                  </a:txBody>
                  <a:tcPr marL="54864" marR="54864" marT="27432" marB="27432">
                    <a:solidFill>
                      <a:srgbClr val="FFFFFF"/>
                    </a:solidFill>
                  </a:tcPr>
                </a:tc>
                <a:tc>
                  <a:txBody>
                    <a:bodyPr wrap="square"/>
                    <a:lstStyle/>
                    <a:p>
                      <a:r>
                        <a:rPr sz="1000" b="0">
                          <a:solidFill>
                            <a:srgbClr val="14202E"/>
                          </a:solidFill>
                          <a:latin typeface="Segoe UI"/>
                        </a:rPr>
                        <a:t>87/87 = 100 %  [96, 100] caught</a:t>
                      </a:r>
                    </a:p>
                  </a:txBody>
                  <a:tcPr marL="54864" marR="54864" marT="27432" marB="27432">
                    <a:solidFill>
                      <a:srgbClr val="FFFFFF"/>
                    </a:solidFill>
                  </a:tcPr>
                </a:tc>
              </a:tr>
              <a:tr h="384048">
                <a:tc>
                  <a:txBody>
                    <a:bodyPr wrap="square"/>
                    <a:lstStyle/>
                    <a:p>
                      <a:r>
                        <a:rPr sz="1000" b="0">
                          <a:solidFill>
                            <a:srgbClr val="14202E"/>
                          </a:solidFill>
                          <a:latin typeface="Segoe UI"/>
                        </a:rPr>
                        <a:t>‘Above/below X’ quotes pushed the wrong way (made up)</a:t>
                      </a:r>
                    </a:p>
                  </a:txBody>
                  <a:tcPr marL="54864" marR="54864" marT="27432" marB="27432">
                    <a:solidFill>
                      <a:srgbClr val="F4F6F8"/>
                    </a:solidFill>
                  </a:tcPr>
                </a:tc>
                <a:tc>
                  <a:txBody>
                    <a:bodyPr wrap="square"/>
                    <a:lstStyle/>
                    <a:p>
                      <a:r>
                        <a:rPr sz="1000" b="0">
                          <a:solidFill>
                            <a:srgbClr val="14202E"/>
                          </a:solidFill>
                          <a:latin typeface="Segoe UI"/>
                        </a:rPr>
                        <a:t>40/42 = 95 %  [84, 99] caught</a:t>
                      </a:r>
                    </a:p>
                  </a:txBody>
                  <a:tcPr marL="54864" marR="54864" marT="27432" marB="27432">
                    <a:solidFill>
                      <a:srgbClr val="F4F6F8"/>
                    </a:solidFill>
                  </a:tcPr>
                </a:tc>
              </a:tr>
              <a:tr h="384048">
                <a:tc>
                  <a:txBody>
                    <a:bodyPr wrap="square"/>
                    <a:lstStyle/>
                    <a:p>
                      <a:r>
                        <a:rPr sz="1000" b="0">
                          <a:solidFill>
                            <a:srgbClr val="14202E"/>
                          </a:solidFill>
                          <a:latin typeface="Segoe UI"/>
                        </a:rPr>
                        <a:t>Quote moved to the previous day - exact (made up)</a:t>
                      </a:r>
                    </a:p>
                  </a:txBody>
                  <a:tcPr marL="54864" marR="54864" marT="27432" marB="27432">
                    <a:solidFill>
                      <a:srgbClr val="FFFFFF"/>
                    </a:solidFill>
                  </a:tcPr>
                </a:tc>
                <a:tc>
                  <a:txBody>
                    <a:bodyPr wrap="square"/>
                    <a:lstStyle/>
                    <a:p>
                      <a:r>
                        <a:rPr sz="1000" b="0">
                          <a:solidFill>
                            <a:srgbClr val="14202E"/>
                          </a:solidFill>
                          <a:latin typeface="Segoe UI"/>
                        </a:rPr>
                        <a:t>27/29 = 93 %  [78, 98] caught</a:t>
                      </a:r>
                    </a:p>
                  </a:txBody>
                  <a:tcPr marL="54864" marR="54864" marT="27432" marB="27432">
                    <a:solidFill>
                      <a:srgbClr val="FFFFFF"/>
                    </a:solidFill>
                  </a:tcPr>
                </a:tc>
              </a:tr>
              <a:tr h="384048">
                <a:tc>
                  <a:txBody>
                    <a:bodyPr wrap="square"/>
                    <a:lstStyle/>
                    <a:p>
                      <a:r>
                        <a:rPr sz="1000" b="0">
                          <a:solidFill>
                            <a:srgbClr val="14202E"/>
                          </a:solidFill>
                          <a:latin typeface="Segoe UI"/>
                        </a:rPr>
                        <a:t>Quote moved to the previous day - above/below (made up)</a:t>
                      </a:r>
                    </a:p>
                  </a:txBody>
                  <a:tcPr marL="54864" marR="54864" marT="27432" marB="27432">
                    <a:solidFill>
                      <a:srgbClr val="F4F6F8"/>
                    </a:solidFill>
                  </a:tcPr>
                </a:tc>
                <a:tc>
                  <a:txBody>
                    <a:bodyPr wrap="square"/>
                    <a:lstStyle/>
                    <a:p>
                      <a:r>
                        <a:rPr sz="1000" b="0">
                          <a:solidFill>
                            <a:srgbClr val="14202E"/>
                          </a:solidFill>
                          <a:latin typeface="Segoe UI"/>
                        </a:rPr>
                        <a:t>12/21 = 57 %  [37, 76] caught - weak: the same price often occurs the day before too</a:t>
                      </a:r>
                    </a:p>
                  </a:txBody>
                  <a:tcPr marL="54864" marR="54864" marT="27432" marB="27432">
                    <a:solidFill>
                      <a:srgbClr val="F4F6F8"/>
                    </a:solidFill>
                  </a:tcPr>
                </a:tc>
              </a:tr>
              <a:tr h="384048">
                <a:tc>
                  <a:txBody>
                    <a:bodyPr wrap="square"/>
                    <a:lstStyle/>
                    <a:p>
                      <a:r>
                        <a:rPr sz="1000" b="0">
                          <a:solidFill>
                            <a:srgbClr val="14202E"/>
                          </a:solidFill>
                          <a:latin typeface="Segoe UI"/>
                        </a:rPr>
                        <a:t>Unchanged quotes (made up)</a:t>
                      </a:r>
                    </a:p>
                  </a:txBody>
                  <a:tcPr marL="54864" marR="54864" marT="27432" marB="27432">
                    <a:solidFill>
                      <a:srgbClr val="FFFFFF"/>
                    </a:solidFill>
                  </a:tcPr>
                </a:tc>
                <a:tc>
                  <a:txBody>
                    <a:bodyPr wrap="square"/>
                    <a:lstStyle/>
                    <a:p>
                      <a:r>
                        <a:rPr sz="1000" b="0">
                          <a:solidFill>
                            <a:srgbClr val="14202E"/>
                          </a:solidFill>
                          <a:latin typeface="Segoe UI"/>
                        </a:rPr>
                        <a:t>50 of 50 pass - expected, they were picked from quotes that passed; only shows nothing broke</a:t>
                      </a:r>
                    </a:p>
                  </a:txBody>
                  <a:tcPr marL="54864" marR="54864" marT="27432" marB="27432">
                    <a:solidFill>
                      <a:srgbClr val="FFFFFF"/>
                    </a:solidFill>
                  </a:tcPr>
                </a:tc>
              </a:tr>
              <a:tr h="384048">
                <a:tc>
                  <a:txBody>
                    <a:bodyPr wrap="square"/>
                    <a:lstStyle/>
                    <a:p>
                      <a:r>
                        <a:rPr sz="1000" b="0">
                          <a:solidFill>
                            <a:srgbClr val="14202E"/>
                          </a:solidFill>
                          <a:latin typeface="Segoe UI"/>
                        </a:rPr>
                        <a:t>Date right (real)</a:t>
                      </a:r>
                    </a:p>
                  </a:txBody>
                  <a:tcPr marL="54864" marR="54864" marT="27432" marB="27432">
                    <a:solidFill>
                      <a:srgbClr val="F4F6F8"/>
                    </a:solidFill>
                  </a:tcPr>
                </a:tc>
                <a:tc>
                  <a:txBody>
                    <a:bodyPr wrap="square"/>
                    <a:lstStyle/>
                    <a:p>
                      <a:r>
                        <a:rPr sz="1000" b="0">
                          <a:solidFill>
                            <a:srgbClr val="14202E"/>
                          </a:solidFill>
                          <a:latin typeface="Segoe UI"/>
                        </a:rPr>
                        <a:t>3 of 3 recordings where it gave a date; for 1 of the 4 recordings it refused</a:t>
                      </a:r>
                    </a:p>
                  </a:txBody>
                  <a:tcPr marL="54864" marR="54864" marT="27432" marB="27432">
                    <a:solidFill>
                      <a:srgbClr val="F4F6F8"/>
                    </a:solidFill>
                  </a:tcPr>
                </a:tc>
              </a:tr>
              <a:tr h="384048">
                <a:tc>
                  <a:txBody>
                    <a:bodyPr wrap="square"/>
                    <a:lstStyle/>
                    <a:p>
                      <a:r>
                        <a:rPr sz="1000" b="0">
                          <a:solidFill>
                            <a:srgbClr val="14202E"/>
                          </a:solidFill>
                          <a:latin typeface="Segoe UI"/>
                        </a:rPr>
                        <a:t>Time vs our recording clock (real)</a:t>
                      </a:r>
                    </a:p>
                  </a:txBody>
                  <a:tcPr marL="54864" marR="54864" marT="27432" marB="27432">
                    <a:solidFill>
                      <a:srgbClr val="FFFFFF"/>
                    </a:solidFill>
                  </a:tcPr>
                </a:tc>
                <a:tc>
                  <a:txBody>
                    <a:bodyPr wrap="square"/>
                    <a:lstStyle/>
                    <a:p>
                      <a:r>
                        <a:rPr sz="1000" b="0">
                          <a:solidFill>
                            <a:srgbClr val="14202E"/>
                          </a:solidFill>
                          <a:latin typeface="Segoe UI"/>
                        </a:rPr>
                        <a:t>agreed within 6.2 s · reading 1 picture every 10 s gives ±15–30 s; 1 picture every second gives ±4 s</a:t>
                      </a:r>
                    </a:p>
                  </a:txBody>
                  <a:tcPr marL="54864" marR="54864" marT="27432" marB="27432">
                    <a:solidFill>
                      <a:srgbClr val="FFFFFF"/>
                    </a:solidFill>
                  </a:tcPr>
                </a:tc>
              </a:tr>
              <a:tr h="384048">
                <a:tc>
                  <a:txBody>
                    <a:bodyPr wrap="square"/>
                    <a:lstStyle/>
                    <a:p>
                      <a:r>
                        <a:rPr sz="1000" b="0">
                          <a:solidFill>
                            <a:srgbClr val="14202E"/>
                          </a:solidFill>
                          <a:latin typeface="Segoe UI"/>
                        </a:rPr>
                        <a:t>Scrolling ticker (real)</a:t>
                      </a:r>
                    </a:p>
                  </a:txBody>
                  <a:tcPr marL="54864" marR="54864" marT="27432" marB="27432">
                    <a:solidFill>
                      <a:srgbClr val="F4F6F8"/>
                    </a:solidFill>
                  </a:tcPr>
                </a:tc>
                <a:tc>
                  <a:txBody>
                    <a:bodyPr wrap="square"/>
                    <a:lstStyle/>
                    <a:p>
                      <a:r>
                        <a:rPr sz="1000" b="0">
                          <a:solidFill>
                            <a:srgbClr val="14202E"/>
                          </a:solidFill>
                          <a:latin typeface="Segoe UI"/>
                        </a:rPr>
                        <a:t>readable reliably in 1 of 8 recordings - so ticker text is ignored elsewhere</a:t>
                      </a:r>
                    </a:p>
                  </a:txBody>
                  <a:tcPr marL="54864" marR="54864" marT="27432" marB="27432">
                    <a:solidFill>
                      <a:srgbClr val="F4F6F8"/>
                    </a:solidFill>
                  </a:tcPr>
                </a:tc>
              </a:tr>
              <a:tr h="384048">
                <a:tc>
                  <a:txBody>
                    <a:bodyPr wrap="square"/>
                    <a:lstStyle/>
                    <a:p>
                      <a:r>
                        <a:rPr sz="1000" b="0">
                          <a:solidFill>
                            <a:srgbClr val="14202E"/>
                          </a:solidFill>
                          <a:latin typeface="Segoe UI"/>
                        </a:rPr>
                        <a:t>Speed (E4)</a:t>
                      </a:r>
                    </a:p>
                  </a:txBody>
                  <a:tcPr marL="54864" marR="54864" marT="27432" marB="27432">
                    <a:solidFill>
                      <a:srgbClr val="FFFFFF"/>
                    </a:solidFill>
                  </a:tcPr>
                </a:tc>
                <a:tc>
                  <a:txBody>
                    <a:bodyPr wrap="square"/>
                    <a:lstStyle/>
                    <a:p>
                      <a:r>
                        <a:rPr sz="1000" b="0">
                          <a:solidFill>
                            <a:srgbClr val="14202E"/>
                          </a:solidFill>
                          <a:latin typeface="Segoe UI"/>
                        </a:rPr>
                        <a:t>each check under 1 second; 137 MB memory; ordinary laptop</a:t>
                      </a:r>
                    </a:p>
                  </a:txBody>
                  <a:tcPr marL="54864" marR="54864" marT="27432" marB="27432">
                    <a:solidFill>
                      <a:srgbClr val="FFFFFF"/>
                    </a:solidFill>
                  </a:tcPr>
                </a:tc>
              </a:tr>
              <a:tr h="384048">
                <a:tc>
                  <a:txBody>
                    <a:bodyPr wrap="square"/>
                    <a:lstStyle/>
                    <a:p>
                      <a:r>
                        <a:rPr sz="1000" b="0">
                          <a:solidFill>
                            <a:srgbClr val="14202E"/>
                          </a:solidFill>
                          <a:latin typeface="Segoe UI"/>
                        </a:rPr>
                        <a:t>FINAL version on new days</a:t>
                      </a:r>
                    </a:p>
                  </a:txBody>
                  <a:tcPr marL="54864" marR="54864" marT="27432" marB="27432">
                    <a:solidFill>
                      <a:srgbClr val="F4F6F8"/>
                    </a:solidFill>
                  </a:tcPr>
                </a:tc>
                <a:tc>
                  <a:txBody>
                    <a:bodyPr wrap="square"/>
                    <a:lstStyle/>
                    <a:p>
                      <a:r>
                        <a:rPr sz="1000" b="0">
                          <a:solidFill>
                            <a:srgbClr val="14202E"/>
                          </a:solidFill>
                          <a:latin typeface="Segoe UI"/>
                        </a:rPr>
                        <a:t>NOT YET MEASURED - no unused days left in our archive; first next step</a:t>
                      </a:r>
                    </a:p>
                  </a:txBody>
                  <a:tcPr marL="54864" marR="54864" marT="27432" marB="27432">
                    <a:solidFill>
                      <a:srgbClr val="F4F6F8"/>
                    </a:solidFill>
                  </a:tcPr>
                </a:tc>
              </a:tr>
            </a:tbl>
          </a:graphicData>
        </a:graphic>
      </p:graphicFrame>
      <p:sp>
        <p:nvSpPr>
          <p:cNvPr id="17" name="TextBox 16"/>
          <p:cNvSpPr txBox="1"/>
          <p:nvPr/>
        </p:nvSpPr>
        <p:spPr>
          <a:xfrm>
            <a:off x="5897880" y="5623560"/>
            <a:ext cx="5897880" cy="274320"/>
          </a:xfrm>
          <a:prstGeom prst="rect">
            <a:avLst/>
          </a:prstGeom>
          <a:noFill/>
        </p:spPr>
        <p:txBody>
          <a:bodyPr wrap="square">
            <a:spAutoFit/>
          </a:bodyPr>
          <a:lstStyle/>
          <a:p>
            <a:pPr algn="l">
              <a:spcAft>
                <a:spcPts val="0"/>
              </a:spcAft>
            </a:pPr>
            <a:r>
              <a:rPr sz="1000" b="0">
                <a:solidFill>
                  <a:srgbClr val="8A939C"/>
                </a:solidFill>
                <a:latin typeface="Segoe UI"/>
              </a:rPr>
              <a:t>[95 % range] = with this few cases, the true rate very likely lies between the two numbers.</a:t>
            </a:r>
          </a:p>
        </p:txBody>
      </p:sp>
      <p:sp>
        <p:nvSpPr>
          <p:cNvPr id="18" name="Rectangle 17"/>
          <p:cNvSpPr/>
          <p:nvPr/>
        </p:nvSpPr>
        <p:spPr>
          <a:xfrm>
            <a:off x="548640" y="5989320"/>
            <a:ext cx="54864" cy="3200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943600"/>
            <a:ext cx="11109960" cy="411480"/>
          </a:xfrm>
          <a:prstGeom prst="rect">
            <a:avLst/>
          </a:prstGeom>
          <a:noFill/>
        </p:spPr>
        <p:txBody>
          <a:bodyPr wrap="square">
            <a:spAutoFit/>
          </a:bodyPr>
          <a:lstStyle/>
          <a:p>
            <a:r>
              <a:rPr sz="1300" b="1">
                <a:solidFill>
                  <a:srgbClr val="8A5A00"/>
                </a:solidFill>
                <a:latin typeface="Segoe UI"/>
              </a:rPr>
              <a:t>In plain words:  </a:t>
            </a:r>
            <a:r>
              <a:rPr sz="1300" b="0">
                <a:solidFill>
                  <a:srgbClr val="44505E"/>
                </a:solidFill>
                <a:latin typeface="Segoe UI"/>
              </a:rPr>
              <a:t>the careless first version was wrong 36 of 37 times it said ‘impossible’. The final version's accuracy on new days is NOT yet measured.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ABLATION AND ROBUSTNESS</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1">
                <a:solidFill>
                  <a:srgbClr val="0B5C8E"/>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000" b="1">
                <a:solidFill>
                  <a:srgbClr val="14202E"/>
                </a:solidFill>
                <a:latin typeface="Segoe UI"/>
              </a:rPr>
              <a:t>Without the chart's day-high, short clips cannot be dated (long recordings: no difference)</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12</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pic>
        <p:nvPicPr>
          <p:cNvPr id="13" name="Picture 12" descr="fig_where.png"/>
          <p:cNvPicPr>
            <a:picLocks noChangeAspect="1"/>
          </p:cNvPicPr>
          <p:nvPr/>
        </p:nvPicPr>
        <p:blipFill>
          <a:blip r:embed="rId3"/>
          <a:stretch>
            <a:fillRect/>
          </a:stretch>
        </p:blipFill>
        <p:spPr>
          <a:xfrm>
            <a:off x="548640" y="1463040"/>
            <a:ext cx="6035039" cy="1750161"/>
          </a:xfrm>
          <a:prstGeom prst="rect">
            <a:avLst/>
          </a:prstGeom>
          <a:ln>
            <a:solidFill>
              <a:srgbClr val="D9D4CA"/>
            </a:solidFill>
          </a:ln>
        </p:spPr>
      </p:pic>
      <p:sp>
        <p:nvSpPr>
          <p:cNvPr id="14" name="TextBox 13"/>
          <p:cNvSpPr txBox="1"/>
          <p:nvPr/>
        </p:nvSpPr>
        <p:spPr>
          <a:xfrm>
            <a:off x="548640" y="3657600"/>
            <a:ext cx="6035040" cy="685800"/>
          </a:xfrm>
          <a:prstGeom prst="rect">
            <a:avLst/>
          </a:prstGeom>
          <a:noFill/>
        </p:spPr>
        <p:txBody>
          <a:bodyPr wrap="square">
            <a:spAutoFit/>
          </a:bodyPr>
          <a:lstStyle/>
          <a:p>
            <a:pPr algn="l">
              <a:spcAft>
                <a:spcPts val="0"/>
              </a:spcAft>
            </a:pPr>
            <a:r>
              <a:rPr sz="1100" b="0">
                <a:solidFill>
                  <a:srgbClr val="44505E"/>
                </a:solidFill>
                <a:latin typeface="Segoe UI"/>
              </a:rPr>
              <a:t>How to read: each bar is a moment the clip could be from. The clip is 110 seconds of CNBC-TV18 from about 13:01; its chart shows the Nifty 50.  With the day's high there is one answer; with the price alone, two answers 24 minutes apart.</a:t>
            </a:r>
          </a:p>
        </p:txBody>
      </p:sp>
      <p:sp>
        <p:nvSpPr>
          <p:cNvPr id="15" name="TextBox 14"/>
          <p:cNvSpPr txBox="1"/>
          <p:nvPr/>
        </p:nvSpPr>
        <p:spPr>
          <a:xfrm>
            <a:off x="548640" y="4389120"/>
            <a:ext cx="6035040" cy="1188720"/>
          </a:xfrm>
          <a:prstGeom prst="rect">
            <a:avLst/>
          </a:prstGeom>
          <a:noFill/>
        </p:spPr>
        <p:txBody>
          <a:bodyPr wrap="square">
            <a:spAutoFit/>
          </a:bodyPr>
          <a:lstStyle/>
          <a:p>
            <a:pPr algn="l">
              <a:spcAft>
                <a:spcPts val="800"/>
              </a:spcAft>
            </a:pPr>
            <a:r>
              <a:rPr sz="1100" b="1">
                <a:solidFill>
                  <a:srgbClr val="14202E"/>
                </a:solidFill>
                <a:latin typeface="Segoe UI"/>
              </a:rPr>
              <a:t>A second clip (12:50): </a:t>
            </a:r>
            <a:r>
              <a:rPr sz="1100" b="0">
                <a:solidFill>
                  <a:srgbClr val="14202E"/>
                </a:solidFill>
                <a:latin typeface="Segoe UI"/>
              </a:rPr>
              <a:t>price alone cannot even tell the DAY (3 possible days); with the day's high, 1 day.</a:t>
            </a:r>
          </a:p>
          <a:p>
            <a:pPr algn="l">
              <a:spcAft>
                <a:spcPts val="800"/>
              </a:spcAft>
            </a:pPr>
            <a:r>
              <a:rPr sz="1100" b="1">
                <a:solidFill>
                  <a:srgbClr val="14202E"/>
                </a:solidFill>
                <a:latin typeface="Segoe UI"/>
              </a:rPr>
              <a:t>Long 20-minute recordings: </a:t>
            </a:r>
            <a:r>
              <a:rPr sz="1100" b="0">
                <a:solidFill>
                  <a:srgbClr val="14202E"/>
                </a:solidFill>
                <a:latin typeface="Segoe UI"/>
              </a:rPr>
              <a:t>no difference - with many pictures the price alone is enough. So the day's high matters for short clips.</a:t>
            </a:r>
          </a:p>
        </p:txBody>
      </p:sp>
      <p:sp>
        <p:nvSpPr>
          <p:cNvPr id="16" name="TextBox 15"/>
          <p:cNvSpPr txBox="1"/>
          <p:nvPr/>
        </p:nvSpPr>
        <p:spPr>
          <a:xfrm>
            <a:off x="6812280" y="1417320"/>
            <a:ext cx="4983480" cy="274320"/>
          </a:xfrm>
          <a:prstGeom prst="rect">
            <a:avLst/>
          </a:prstGeom>
          <a:noFill/>
        </p:spPr>
        <p:txBody>
          <a:bodyPr wrap="square">
            <a:spAutoFit/>
          </a:bodyPr>
          <a:lstStyle/>
          <a:p>
            <a:pPr algn="l">
              <a:spcAft>
                <a:spcPts val="0"/>
              </a:spcAft>
            </a:pPr>
            <a:r>
              <a:rPr sz="1200" b="1">
                <a:solidFill>
                  <a:srgbClr val="0B5C8E"/>
                </a:solidFill>
                <a:latin typeface="Segoe UI"/>
              </a:rPr>
              <a:t>Switch one part off - what went wrong</a:t>
            </a:r>
          </a:p>
        </p:txBody>
      </p:sp>
      <p:graphicFrame>
        <p:nvGraphicFramePr>
          <p:cNvPr id="17" name="Table 16"/>
          <p:cNvGraphicFramePr>
            <a:graphicFrameLocks noGrp="1"/>
          </p:cNvGraphicFramePr>
          <p:nvPr/>
        </p:nvGraphicFramePr>
        <p:xfrm>
          <a:off x="6812280" y="1737360"/>
          <a:ext cx="4983480" cy="2304288"/>
        </p:xfrm>
        <a:graphic>
          <a:graphicData uri="http://schemas.openxmlformats.org/drawingml/2006/table">
            <a:tbl>
              <a:tblPr firstRow="1" bandRow="1">
                <a:tableStyleId>{5C22544A-7EE6-4342-B048-85BDC9FD1C3A}</a:tableStyleId>
              </a:tblPr>
              <a:tblGrid>
                <a:gridCol w="2468880"/>
                <a:gridCol w="2514600"/>
              </a:tblGrid>
              <a:tr h="384048">
                <a:tc>
                  <a:txBody>
                    <a:bodyPr wrap="square"/>
                    <a:lstStyle/>
                    <a:p>
                      <a:r>
                        <a:rPr sz="1050" b="1">
                          <a:solidFill>
                            <a:srgbClr val="FFFFFF"/>
                          </a:solidFill>
                          <a:latin typeface="Segoe UI"/>
                        </a:rPr>
                        <a:t>Part switched off</a:t>
                      </a:r>
                    </a:p>
                  </a:txBody>
                  <a:tcPr marL="54864" marR="54864" marT="27432" marB="27432">
                    <a:solidFill>
                      <a:srgbClr val="1F4E79"/>
                    </a:solidFill>
                  </a:tcPr>
                </a:tc>
                <a:tc>
                  <a:txBody>
                    <a:bodyPr wrap="square"/>
                    <a:lstStyle/>
                    <a:p>
                      <a:r>
                        <a:rPr sz="1050" b="1">
                          <a:solidFill>
                            <a:srgbClr val="FFFFFF"/>
                          </a:solidFill>
                          <a:latin typeface="Segoe UI"/>
                        </a:rPr>
                        <a:t>What went wrong (measured)</a:t>
                      </a:r>
                    </a:p>
                  </a:txBody>
                  <a:tcPr marL="54864" marR="54864" marT="27432" marB="27432">
                    <a:solidFill>
                      <a:srgbClr val="1F4E79"/>
                    </a:solidFill>
                  </a:tcPr>
                </a:tc>
              </a:tr>
              <a:tr h="384048">
                <a:tc>
                  <a:txBody>
                    <a:bodyPr wrap="square"/>
                    <a:lstStyle/>
                    <a:p>
                      <a:r>
                        <a:rPr sz="1050" b="0">
                          <a:solidFill>
                            <a:srgbClr val="14202E"/>
                          </a:solidFill>
                          <a:latin typeface="Segoe UI"/>
                        </a:rPr>
                        <a:t>Careful reading of sentences</a:t>
                      </a:r>
                    </a:p>
                  </a:txBody>
                  <a:tcPr marL="54864" marR="54864" marT="27432" marB="27432">
                    <a:solidFill>
                      <a:srgbClr val="FFFFFF"/>
                    </a:solidFill>
                  </a:tcPr>
                </a:tc>
                <a:tc>
                  <a:txBody>
                    <a:bodyPr wrap="square"/>
                    <a:lstStyle/>
                    <a:p>
                      <a:r>
                        <a:rPr sz="1050" b="0">
                          <a:solidFill>
                            <a:srgbClr val="14202E"/>
                          </a:solidFill>
                          <a:latin typeface="Segoe UI"/>
                        </a:rPr>
                        <a:t>‘impossible’ right only 1 of 37 times</a:t>
                      </a:r>
                    </a:p>
                  </a:txBody>
                  <a:tcPr marL="54864" marR="54864" marT="27432" marB="27432">
                    <a:solidFill>
                      <a:srgbClr val="FFFFFF"/>
                    </a:solidFill>
                  </a:tcPr>
                </a:tc>
              </a:tr>
              <a:tr h="384048">
                <a:tc>
                  <a:txBody>
                    <a:bodyPr wrap="square"/>
                    <a:lstStyle/>
                    <a:p>
                      <a:r>
                        <a:rPr sz="1050" b="0">
                          <a:solidFill>
                            <a:srgbClr val="14202E"/>
                          </a:solidFill>
                          <a:latin typeface="Segoe UI"/>
                        </a:rPr>
                        <a:t>Testing whether a channel's scrolling ticker can be trusted</a:t>
                      </a:r>
                    </a:p>
                  </a:txBody>
                  <a:tcPr marL="54864" marR="54864" marT="27432" marB="27432">
                    <a:solidFill>
                      <a:srgbClr val="F4F6F8"/>
                    </a:solidFill>
                  </a:tcPr>
                </a:tc>
                <a:tc>
                  <a:txBody>
                    <a:bodyPr wrap="square"/>
                    <a:lstStyle/>
                    <a:p>
                      <a:r>
                        <a:rPr sz="1050" b="0">
                          <a:solidFill>
                            <a:srgbClr val="14202E"/>
                          </a:solidFill>
                          <a:latin typeface="Segoe UI"/>
                        </a:rPr>
                        <a:t>≈ 12 % of ticker readings wrongly ‘impossible’</a:t>
                      </a:r>
                    </a:p>
                  </a:txBody>
                  <a:tcPr marL="54864" marR="54864" marT="27432" marB="27432">
                    <a:solidFill>
                      <a:srgbClr val="F4F6F8"/>
                    </a:solidFill>
                  </a:tcPr>
                </a:tc>
              </a:tr>
              <a:tr h="384048">
                <a:tc>
                  <a:txBody>
                    <a:bodyPr wrap="square"/>
                    <a:lstStyle/>
                    <a:p>
                      <a:r>
                        <a:rPr sz="1050" b="0">
                          <a:solidFill>
                            <a:srgbClr val="14202E"/>
                          </a:solidFill>
                          <a:latin typeface="Segoe UI"/>
                        </a:rPr>
                        <a:t>Requiring a number to be read the same in 2 pictures</a:t>
                      </a:r>
                    </a:p>
                  </a:txBody>
                  <a:tcPr marL="54864" marR="54864" marT="27432" marB="27432">
                    <a:solidFill>
                      <a:srgbClr val="FFFFFF"/>
                    </a:solidFill>
                  </a:tcPr>
                </a:tc>
                <a:tc>
                  <a:txBody>
                    <a:bodyPr wrap="square"/>
                    <a:lstStyle/>
                    <a:p>
                      <a:r>
                        <a:rPr sz="1050" b="0">
                          <a:solidFill>
                            <a:srgbClr val="14202E"/>
                          </a:solidFill>
                          <a:latin typeface="Segoe UI"/>
                        </a:rPr>
                        <a:t>a one-off misreading (Titan read as 5,080; real price ~4,560) → wrongly ‘impossible’</a:t>
                      </a:r>
                    </a:p>
                  </a:txBody>
                  <a:tcPr marL="54864" marR="54864" marT="27432" marB="27432">
                    <a:solidFill>
                      <a:srgbClr val="FFFFFF"/>
                    </a:solidFill>
                  </a:tcPr>
                </a:tc>
              </a:tr>
              <a:tr h="384048">
                <a:tc>
                  <a:txBody>
                    <a:bodyPr wrap="square"/>
                    <a:lstStyle/>
                    <a:p>
                      <a:r>
                        <a:rPr sz="1050" b="0">
                          <a:solidFill>
                            <a:srgbClr val="14202E"/>
                          </a:solidFill>
                          <a:latin typeface="Segoe UI"/>
                        </a:rPr>
                        <a:t>0.25 % allowance between data providers</a:t>
                      </a:r>
                    </a:p>
                  </a:txBody>
                  <a:tcPr marL="54864" marR="54864" marT="27432" marB="27432">
                    <a:solidFill>
                      <a:srgbClr val="F4F6F8"/>
                    </a:solidFill>
                  </a:tcPr>
                </a:tc>
                <a:tc>
                  <a:txBody>
                    <a:bodyPr wrap="square"/>
                    <a:lstStyle/>
                    <a:p>
                      <a:r>
                        <a:rPr sz="1050" b="0">
                          <a:solidFill>
                            <a:srgbClr val="14202E"/>
                          </a:solidFill>
                          <a:latin typeface="Segoe UI"/>
                        </a:rPr>
                        <a:t>a true ‘yesterday's high was 55,220’ (our data: 55,191) → wrongly ‘impossible’</a:t>
                      </a:r>
                    </a:p>
                  </a:txBody>
                  <a:tcPr marL="54864" marR="54864" marT="27432" marB="27432">
                    <a:solidFill>
                      <a:srgbClr val="F4F6F8"/>
                    </a:solidFill>
                  </a:tcPr>
                </a:tc>
              </a:tr>
              <a:tr h="384048">
                <a:tc>
                  <a:txBody>
                    <a:bodyPr wrap="square"/>
                    <a:lstStyle/>
                    <a:p>
                      <a:r>
                        <a:rPr sz="1050" b="0">
                          <a:solidFill>
                            <a:srgbClr val="14202E"/>
                          </a:solidFill>
                          <a:latin typeface="Segoe UI"/>
                        </a:rPr>
                        <a:t>Counting the number of shares</a:t>
                      </a:r>
                    </a:p>
                  </a:txBody>
                  <a:tcPr marL="54864" marR="54864" marT="27432" marB="27432">
                    <a:solidFill>
                      <a:srgbClr val="FFFFFF"/>
                    </a:solidFill>
                  </a:tcPr>
                </a:tc>
                <a:tc>
                  <a:txBody>
                    <a:bodyPr wrap="square"/>
                    <a:lstStyle/>
                    <a:p>
                      <a:r>
                        <a:rPr sz="1050" b="0">
                          <a:solidFill>
                            <a:srgbClr val="14202E"/>
                          </a:solidFill>
                          <a:latin typeface="Segoe UI"/>
                        </a:rPr>
                        <a:t>an impossible 50-lakh-share claim would wrongly PASS</a:t>
                      </a:r>
                    </a:p>
                  </a:txBody>
                  <a:tcPr marL="54864" marR="54864" marT="27432" marB="27432">
                    <a:solidFill>
                      <a:srgbClr val="FFFFFF"/>
                    </a:solidFill>
                  </a:tcPr>
                </a:tc>
              </a:tr>
            </a:tbl>
          </a:graphicData>
        </a:graphic>
      </p:graphicFrame>
      <p:sp>
        <p:nvSpPr>
          <p:cNvPr id="18" name="TextBox 17"/>
          <p:cNvSpPr txBox="1"/>
          <p:nvPr/>
        </p:nvSpPr>
        <p:spPr>
          <a:xfrm>
            <a:off x="6812280" y="4709160"/>
            <a:ext cx="4937760" cy="274320"/>
          </a:xfrm>
          <a:prstGeom prst="rect">
            <a:avLst/>
          </a:prstGeom>
          <a:noFill/>
        </p:spPr>
        <p:txBody>
          <a:bodyPr wrap="square">
            <a:spAutoFit/>
          </a:bodyPr>
          <a:lstStyle/>
          <a:p>
            <a:pPr algn="l">
              <a:spcAft>
                <a:spcPts val="0"/>
              </a:spcAft>
            </a:pPr>
            <a:r>
              <a:rPr sz="1200" b="1">
                <a:solidFill>
                  <a:srgbClr val="0B5C8E"/>
                </a:solidFill>
                <a:latin typeface="Segoe UI"/>
              </a:rPr>
              <a:t>Hard cases: it refuses rather than guesses</a:t>
            </a:r>
          </a:p>
        </p:txBody>
      </p:sp>
      <p:sp>
        <p:nvSpPr>
          <p:cNvPr id="19" name="TextBox 18"/>
          <p:cNvSpPr txBox="1"/>
          <p:nvPr/>
        </p:nvSpPr>
        <p:spPr>
          <a:xfrm>
            <a:off x="6812280" y="4983480"/>
            <a:ext cx="4983480" cy="914400"/>
          </a:xfrm>
          <a:prstGeom prst="rect">
            <a:avLst/>
          </a:prstGeom>
          <a:noFill/>
        </p:spPr>
        <p:txBody>
          <a:bodyPr wrap="square">
            <a:spAutoFit/>
          </a:bodyPr>
          <a:lstStyle/>
          <a:p>
            <a:pPr algn="l">
              <a:spcAft>
                <a:spcPts val="800"/>
              </a:spcAft>
            </a:pPr>
            <a:r>
              <a:rPr sz="1050" b="0">
                <a:solidFill>
                  <a:srgbClr val="14202E"/>
                </a:solidFill>
                <a:latin typeface="Segoe UI"/>
              </a:rPr>
              <a:t>•  chart matches no day → ABSTAIN · too few chart frames → time marked ‘weak’, recording clock used (labelled)</a:t>
            </a:r>
          </a:p>
          <a:p>
            <a:pPr algn="l">
              <a:spcAft>
                <a:spcPts val="800"/>
              </a:spcAft>
            </a:pPr>
            <a:r>
              <a:rPr sz="1050" b="0">
                <a:solidFill>
                  <a:srgbClr val="14202E"/>
                </a:solidFill>
                <a:latin typeface="Segoe UI"/>
              </a:rPr>
              <a:t>•  wrong stock → ABSTAIN · targets, option prices (‘the 22,700 call’), self-corrections → not judged</a:t>
            </a:r>
          </a:p>
        </p:txBody>
      </p:sp>
      <p:sp>
        <p:nvSpPr>
          <p:cNvPr id="20" name="Rectangle 19"/>
          <p:cNvSpPr/>
          <p:nvPr/>
        </p:nvSpPr>
        <p:spPr>
          <a:xfrm>
            <a:off x="548640" y="5943600"/>
            <a:ext cx="54864" cy="3200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897880"/>
            <a:ext cx="11109960" cy="411480"/>
          </a:xfrm>
          <a:prstGeom prst="rect">
            <a:avLst/>
          </a:prstGeom>
          <a:noFill/>
        </p:spPr>
        <p:txBody>
          <a:bodyPr wrap="square">
            <a:spAutoFit/>
          </a:bodyPr>
          <a:lstStyle/>
          <a:p>
            <a:r>
              <a:rPr sz="1300" b="1">
                <a:solidFill>
                  <a:srgbClr val="8A5A00"/>
                </a:solidFill>
                <a:latin typeface="Segoe UI"/>
              </a:rPr>
              <a:t>In plain words:  </a:t>
            </a:r>
            <a:r>
              <a:rPr sz="1300" b="0">
                <a:solidFill>
                  <a:srgbClr val="44505E"/>
                </a:solidFill>
                <a:latin typeface="Segoe UI"/>
              </a:rPr>
              <a:t>on a short clip, the day's high turns ‘12:38 or 13:03?’ into ‘13:03, give or take 4 seconds’.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APPLICATION UI AND EXPLAINABILITY</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1">
                <a:solidFill>
                  <a:srgbClr val="0B5C8E"/>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In the app, every answer is one click from its evidence</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13</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pic>
        <p:nvPicPr>
          <p:cNvPr id="13" name="Picture 12" descr="certbar.png"/>
          <p:cNvPicPr>
            <a:picLocks noChangeAspect="1"/>
          </p:cNvPicPr>
          <p:nvPr/>
        </p:nvPicPr>
        <p:blipFill>
          <a:blip r:embed="rId3"/>
          <a:stretch>
            <a:fillRect/>
          </a:stretch>
        </p:blipFill>
        <p:spPr>
          <a:xfrm>
            <a:off x="548640" y="1417320"/>
            <a:ext cx="7498079" cy="509979"/>
          </a:xfrm>
          <a:prstGeom prst="rect">
            <a:avLst/>
          </a:prstGeom>
          <a:ln>
            <a:solidFill>
              <a:srgbClr val="D9D4CA"/>
            </a:solidFill>
          </a:ln>
        </p:spPr>
      </p:pic>
      <p:sp>
        <p:nvSpPr>
          <p:cNvPr id="14" name="Rounded Rectangle 13"/>
          <p:cNvSpPr/>
          <p:nvPr/>
        </p:nvSpPr>
        <p:spPr>
          <a:xfrm>
            <a:off x="8183879" y="1417320"/>
            <a:ext cx="3611880" cy="54864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5C8E"/>
                </a:solidFill>
                <a:latin typeface="Segoe UI"/>
              </a:rPr>
              <a:t>App names: Fill conservation = TRADE · Knowability = TIMING · Data age = TENURE</a:t>
            </a:r>
          </a:p>
        </p:txBody>
      </p:sp>
      <p:pic>
        <p:nvPicPr>
          <p:cNvPr id="15" name="Picture 14" descr="trace_1_certificate.png"/>
          <p:cNvPicPr>
            <a:picLocks noChangeAspect="1"/>
          </p:cNvPicPr>
          <p:nvPr/>
        </p:nvPicPr>
        <p:blipFill>
          <a:blip r:embed="rId4"/>
          <a:stretch>
            <a:fillRect/>
          </a:stretch>
        </p:blipFill>
        <p:spPr>
          <a:xfrm>
            <a:off x="548640" y="2057400"/>
            <a:ext cx="11247120" cy="1228852"/>
          </a:xfrm>
          <a:prstGeom prst="rect">
            <a:avLst/>
          </a:prstGeom>
          <a:ln>
            <a:solidFill>
              <a:srgbClr val="D9D4CA"/>
            </a:solidFill>
          </a:ln>
        </p:spPr>
      </p:pic>
      <p:pic>
        <p:nvPicPr>
          <p:cNvPr id="16" name="Picture 15" descr="trace_3_encoders.png"/>
          <p:cNvPicPr>
            <a:picLocks noChangeAspect="1"/>
          </p:cNvPicPr>
          <p:nvPr/>
        </p:nvPicPr>
        <p:blipFill>
          <a:blip r:embed="rId5"/>
          <a:stretch>
            <a:fillRect/>
          </a:stretch>
        </p:blipFill>
        <p:spPr>
          <a:xfrm>
            <a:off x="548640" y="3383280"/>
            <a:ext cx="7469944" cy="2697480"/>
          </a:xfrm>
          <a:prstGeom prst="rect">
            <a:avLst/>
          </a:prstGeom>
          <a:ln>
            <a:solidFill>
              <a:srgbClr val="D9D4CA"/>
            </a:solidFill>
          </a:ln>
        </p:spPr>
      </p:pic>
      <p:sp>
        <p:nvSpPr>
          <p:cNvPr id="17" name="TextBox 16"/>
          <p:cNvSpPr txBox="1"/>
          <p:nvPr/>
        </p:nvSpPr>
        <p:spPr>
          <a:xfrm>
            <a:off x="8229600" y="3383280"/>
            <a:ext cx="3566160" cy="2926080"/>
          </a:xfrm>
          <a:prstGeom prst="rect">
            <a:avLst/>
          </a:prstGeom>
          <a:noFill/>
        </p:spPr>
        <p:txBody>
          <a:bodyPr wrap="square">
            <a:spAutoFit/>
          </a:bodyPr>
          <a:lstStyle/>
          <a:p>
            <a:pPr algn="l">
              <a:spcAft>
                <a:spcPts val="800"/>
              </a:spcAft>
            </a:pPr>
            <a:r>
              <a:rPr sz="1100" b="1">
                <a:solidFill>
                  <a:srgbClr val="14202E"/>
                </a:solidFill>
                <a:latin typeface="Segoe UI"/>
              </a:rPr>
              <a:t>top bar: </a:t>
            </a:r>
            <a:r>
              <a:rPr sz="1100" b="0">
                <a:solidFill>
                  <a:srgbClr val="14202E"/>
                </a:solidFill>
                <a:latin typeface="Segoe UI"/>
              </a:rPr>
              <a:t>the three answers; ‘Certificate e47b…’ = the evidence sheet's fingerprint</a:t>
            </a:r>
          </a:p>
          <a:p>
            <a:pPr algn="l">
              <a:spcAft>
                <a:spcPts val="800"/>
              </a:spcAft>
            </a:pPr>
            <a:r>
              <a:rPr sz="1100" b="1">
                <a:solidFill>
                  <a:srgbClr val="14202E"/>
                </a:solidFill>
                <a:latin typeface="Segoe UI"/>
              </a:rPr>
              <a:t>box ‘1 · Certificate’ (box 2, the claim card, is not shown): </a:t>
            </a:r>
            <a:r>
              <a:rPr sz="1100" b="0">
                <a:solidFill>
                  <a:srgbClr val="14202E"/>
                </a:solidFill>
                <a:latin typeface="Segoe UI"/>
              </a:rPr>
              <a:t>the TIMING answer in words - the minutes checked (up to 3 min = 180 s before speaking) and that the time came from the chart's day-high (the app calls it ‘ratchet’)</a:t>
            </a:r>
          </a:p>
          <a:p>
            <a:pPr algn="l">
              <a:spcAft>
                <a:spcPts val="800"/>
              </a:spcAft>
            </a:pPr>
            <a:r>
              <a:rPr sz="1100" b="1">
                <a:solidFill>
                  <a:srgbClr val="14202E"/>
                </a:solidFill>
                <a:latin typeface="Segoe UI"/>
              </a:rPr>
              <a:t>box ‘3 · Encoders’, left: </a:t>
            </a:r>
            <a:r>
              <a:rPr sz="1100" b="0">
                <a:solidFill>
                  <a:srgbClr val="14202E"/>
                </a:solidFill>
                <a:latin typeface="Segoe UI"/>
              </a:rPr>
              <a:t>the exact words; ‘confidence 40 %’ = how sure the speech software was of hearing ‘22,700’. Shown, not hidden - but not yet used to switch to ‘can't tell’ (a limitation, slide 14)</a:t>
            </a:r>
          </a:p>
          <a:p>
            <a:pPr algn="l">
              <a:spcAft>
                <a:spcPts val="800"/>
              </a:spcAft>
            </a:pPr>
            <a:r>
              <a:rPr sz="1100" b="1">
                <a:solidFill>
                  <a:srgbClr val="14202E"/>
                </a:solidFill>
                <a:latin typeface="Segoe UI"/>
              </a:rPr>
              <a:t>box ‘3 · Encoders’, right: </a:t>
            </a:r>
            <a:r>
              <a:rPr sz="1100" b="0">
                <a:solidFill>
                  <a:srgbClr val="14202E"/>
                </a:solidFill>
                <a:latin typeface="Segoe UI"/>
              </a:rPr>
              <a:t>the frame at that moment - it independently shows 22,699.35</a:t>
            </a:r>
          </a:p>
          <a:p>
            <a:pPr algn="l">
              <a:spcAft>
                <a:spcPts val="800"/>
              </a:spcAft>
            </a:pPr>
            <a:r>
              <a:rPr sz="1100" b="1">
                <a:solidFill>
                  <a:srgbClr val="14202E"/>
                </a:solidFill>
                <a:latin typeface="Segoe UI"/>
              </a:rPr>
              <a:t>app words: </a:t>
            </a:r>
            <a:r>
              <a:rPr sz="1100" b="0">
                <a:solidFill>
                  <a:srgbClr val="14202E"/>
                </a:solidFill>
                <a:latin typeface="Segoe UI"/>
              </a:rPr>
              <a:t>encoders = readers · ratchet = day's high · IST = Indian time · τ ±4 s = time give or take 4 s · 180 s = 3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LIMITATIONS AND FUTURE RESEARCH</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1">
                <a:solidFill>
                  <a:srgbClr val="0B5C8E"/>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What this evidence does not show - and what comes next</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14</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TextBox 12"/>
          <p:cNvSpPr txBox="1"/>
          <p:nvPr/>
        </p:nvSpPr>
        <p:spPr>
          <a:xfrm>
            <a:off x="548640" y="1417320"/>
            <a:ext cx="5577840" cy="365760"/>
          </a:xfrm>
          <a:prstGeom prst="rect">
            <a:avLst/>
          </a:prstGeom>
          <a:noFill/>
        </p:spPr>
        <p:txBody>
          <a:bodyPr wrap="square">
            <a:spAutoFit/>
          </a:bodyPr>
          <a:lstStyle/>
          <a:p>
            <a:pPr algn="l">
              <a:spcAft>
                <a:spcPts val="0"/>
              </a:spcAft>
            </a:pPr>
            <a:r>
              <a:rPr sz="1500" b="1">
                <a:solidFill>
                  <a:srgbClr val="A3282F"/>
                </a:solidFill>
                <a:latin typeface="Segoe UI"/>
              </a:rPr>
              <a:t>Not shown by this evidence</a:t>
            </a:r>
          </a:p>
        </p:txBody>
      </p:sp>
      <p:sp>
        <p:nvSpPr>
          <p:cNvPr id="14" name="TextBox 13"/>
          <p:cNvSpPr txBox="1"/>
          <p:nvPr/>
        </p:nvSpPr>
        <p:spPr>
          <a:xfrm>
            <a:off x="548640" y="1828800"/>
            <a:ext cx="5577840" cy="3931920"/>
          </a:xfrm>
          <a:prstGeom prst="rect">
            <a:avLst/>
          </a:prstGeom>
          <a:noFill/>
        </p:spPr>
        <p:txBody>
          <a:bodyPr wrap="square">
            <a:spAutoFit/>
          </a:bodyPr>
          <a:lstStyle/>
          <a:p>
            <a:pPr algn="l">
              <a:spcAft>
                <a:spcPts val="800"/>
              </a:spcAft>
            </a:pPr>
            <a:r>
              <a:rPr sz="1200" b="0">
                <a:solidFill>
                  <a:srgbClr val="14202E"/>
                </a:solidFill>
                <a:latin typeface="Segoe UI"/>
              </a:rPr>
              <a:t>•  who traded - the market record has no names</a:t>
            </a:r>
          </a:p>
          <a:p>
            <a:pPr algn="l">
              <a:spcAft>
                <a:spcPts val="800"/>
              </a:spcAft>
            </a:pPr>
            <a:r>
              <a:rPr sz="1200" b="0">
                <a:solidFill>
                  <a:srgbClr val="14202E"/>
                </a:solidFill>
                <a:latin typeface="Segoe UI"/>
              </a:rPr>
              <a:t>•  data is NSE per-minute summaries from Yahoo Finance - not NSE's own list of every trade; no BSE</a:t>
            </a:r>
          </a:p>
          <a:p>
            <a:pPr algn="l">
              <a:spcAft>
                <a:spcPts val="800"/>
              </a:spcAft>
            </a:pPr>
            <a:r>
              <a:rPr sz="1200" b="0">
                <a:solidFill>
                  <a:srgbClr val="14202E"/>
                </a:solidFill>
                <a:latin typeface="Segoe UI"/>
              </a:rPr>
              <a:t>•  personal ‘I bought …’ claims - tested only on 7 made-up examples</a:t>
            </a:r>
          </a:p>
          <a:p>
            <a:pPr algn="l">
              <a:spcAft>
                <a:spcPts val="800"/>
              </a:spcAft>
            </a:pPr>
            <a:r>
              <a:rPr sz="1200" b="0">
                <a:solidFill>
                  <a:srgbClr val="14202E"/>
                </a:solidFill>
                <a:latin typeface="Segoe UI"/>
              </a:rPr>
              <a:t>•  that the fixes work on new days - tested only on the days used for fixing</a:t>
            </a:r>
          </a:p>
          <a:p>
            <a:pPr algn="l">
              <a:spcAft>
                <a:spcPts val="800"/>
              </a:spcAft>
            </a:pPr>
            <a:r>
              <a:rPr sz="1200" b="0">
                <a:solidFill>
                  <a:srgbClr val="14202E"/>
                </a:solidFill>
                <a:latin typeface="Segoe UI"/>
              </a:rPr>
              <a:t>•  agreement with human experts - right/wrong judged by a separate AI model</a:t>
            </a:r>
          </a:p>
          <a:p>
            <a:pPr algn="l">
              <a:spcAft>
                <a:spcPts val="800"/>
              </a:spcAft>
            </a:pPr>
            <a:r>
              <a:rPr sz="1200" b="0">
                <a:solidFill>
                  <a:srgbClr val="14202E"/>
                </a:solidFill>
                <a:latin typeface="Segoe UI"/>
              </a:rPr>
              <a:t>•  what the speaker saw - a TIMING PASS only means the price fits the record</a:t>
            </a:r>
          </a:p>
          <a:p>
            <a:pPr algn="l">
              <a:spcAft>
                <a:spcPts val="800"/>
              </a:spcAft>
            </a:pPr>
            <a:r>
              <a:rPr sz="1200" b="0">
                <a:solidFill>
                  <a:srgbClr val="14202E"/>
                </a:solidFill>
                <a:latin typeface="Segoe UI"/>
              </a:rPr>
              <a:t>•  whether SEBI's rule applies - depends on who the speaker is</a:t>
            </a:r>
          </a:p>
          <a:p>
            <a:pPr algn="l">
              <a:spcAft>
                <a:spcPts val="800"/>
              </a:spcAft>
            </a:pPr>
            <a:r>
              <a:rPr sz="1200" b="0">
                <a:solidFill>
                  <a:srgbClr val="14202E"/>
                </a:solidFill>
                <a:latin typeface="Segoe UI"/>
              </a:rPr>
              <a:t>•  small samples (dating checked on 3 recordings); one TV chart design; dating searches only the 7 trading days in our data</a:t>
            </a:r>
          </a:p>
        </p:txBody>
      </p:sp>
      <p:sp>
        <p:nvSpPr>
          <p:cNvPr id="15" name="TextBox 14"/>
          <p:cNvSpPr txBox="1"/>
          <p:nvPr/>
        </p:nvSpPr>
        <p:spPr>
          <a:xfrm>
            <a:off x="6309360" y="1417320"/>
            <a:ext cx="5486400" cy="365760"/>
          </a:xfrm>
          <a:prstGeom prst="rect">
            <a:avLst/>
          </a:prstGeom>
          <a:noFill/>
        </p:spPr>
        <p:txBody>
          <a:bodyPr wrap="square">
            <a:spAutoFit/>
          </a:bodyPr>
          <a:lstStyle/>
          <a:p>
            <a:pPr algn="l">
              <a:spcAft>
                <a:spcPts val="0"/>
              </a:spcAft>
            </a:pPr>
            <a:r>
              <a:rPr sz="1500" b="1">
                <a:solidFill>
                  <a:srgbClr val="0B5C8E"/>
                </a:solidFill>
                <a:latin typeface="Segoe UI"/>
              </a:rPr>
              <a:t>What comes next</a:t>
            </a:r>
          </a:p>
        </p:txBody>
      </p:sp>
      <p:sp>
        <p:nvSpPr>
          <p:cNvPr id="16" name="TextBox 15"/>
          <p:cNvSpPr txBox="1"/>
          <p:nvPr/>
        </p:nvSpPr>
        <p:spPr>
          <a:xfrm>
            <a:off x="6309360" y="1828800"/>
            <a:ext cx="5486400" cy="2286000"/>
          </a:xfrm>
          <a:prstGeom prst="rect">
            <a:avLst/>
          </a:prstGeom>
          <a:noFill/>
        </p:spPr>
        <p:txBody>
          <a:bodyPr wrap="square">
            <a:spAutoFit/>
          </a:bodyPr>
          <a:lstStyle/>
          <a:p>
            <a:pPr algn="l">
              <a:spcAft>
                <a:spcPts val="800"/>
              </a:spcAft>
            </a:pPr>
            <a:r>
              <a:rPr sz="1200" b="0">
                <a:solidFill>
                  <a:srgbClr val="14202E"/>
                </a:solidFill>
                <a:latin typeface="Segoe UI"/>
              </a:rPr>
              <a:t>•  lock the rules, test on new TV days, with human judges</a:t>
            </a:r>
          </a:p>
          <a:p>
            <a:pPr algn="l">
              <a:spcAft>
                <a:spcPts val="800"/>
              </a:spcAft>
            </a:pPr>
            <a:r>
              <a:rPr sz="1200" b="0">
                <a:solidFill>
                  <a:srgbClr val="14202E"/>
                </a:solidFill>
                <a:latin typeface="Segoe UI"/>
              </a:rPr>
              <a:t>•  influencer videos with real ‘I bought …’ claims and screenshots of their trades</a:t>
            </a:r>
          </a:p>
          <a:p>
            <a:pPr algn="l">
              <a:spcAft>
                <a:spcPts val="800"/>
              </a:spcAft>
            </a:pPr>
            <a:r>
              <a:rPr sz="1200" b="0">
                <a:solidFill>
                  <a:srgbClr val="14202E"/>
                </a:solidFill>
                <a:latin typeface="Segoe UI"/>
              </a:rPr>
              <a:t>•  licensed exchange data listing every trade, and BSE</a:t>
            </a:r>
          </a:p>
          <a:p>
            <a:pPr algn="l">
              <a:spcAft>
                <a:spcPts val="800"/>
              </a:spcAft>
            </a:pPr>
            <a:r>
              <a:rPr sz="1200" b="0">
                <a:solidFill>
                  <a:srgbClr val="14202E"/>
                </a:solidFill>
                <a:latin typeface="Segoe UI"/>
              </a:rPr>
              <a:t>•  check whether a price appeared on screen before it was spoken</a:t>
            </a:r>
          </a:p>
          <a:p>
            <a:pPr algn="l">
              <a:spcAft>
                <a:spcPts val="800"/>
              </a:spcAft>
            </a:pPr>
            <a:r>
              <a:rPr sz="1200" b="0">
                <a:solidFill>
                  <a:srgbClr val="14202E"/>
                </a:solidFill>
                <a:latin typeface="Segoe UI"/>
              </a:rPr>
              <a:t>•  answer ‘can't tell’ when speech or screen reading is unsure</a:t>
            </a:r>
          </a:p>
          <a:p>
            <a:pPr algn="l">
              <a:spcAft>
                <a:spcPts val="800"/>
              </a:spcAft>
            </a:pPr>
            <a:r>
              <a:rPr sz="1200" b="0">
                <a:solidFill>
                  <a:srgbClr val="14202E"/>
                </a:solidFill>
                <a:latin typeface="Segoe UI"/>
              </a:rPr>
              <a:t>•  teach the software other channels' chart designs</a:t>
            </a:r>
          </a:p>
        </p:txBody>
      </p:sp>
      <p:sp>
        <p:nvSpPr>
          <p:cNvPr id="17" name="TextBox 16"/>
          <p:cNvSpPr txBox="1"/>
          <p:nvPr/>
        </p:nvSpPr>
        <p:spPr>
          <a:xfrm>
            <a:off x="6309360" y="4160520"/>
            <a:ext cx="5486400" cy="320040"/>
          </a:xfrm>
          <a:prstGeom prst="rect">
            <a:avLst/>
          </a:prstGeom>
          <a:noFill/>
        </p:spPr>
        <p:txBody>
          <a:bodyPr wrap="square">
            <a:spAutoFit/>
          </a:bodyPr>
          <a:lstStyle/>
          <a:p>
            <a:pPr algn="l">
              <a:spcAft>
                <a:spcPts val="0"/>
              </a:spcAft>
            </a:pPr>
            <a:r>
              <a:rPr sz="1300" b="1">
                <a:solidFill>
                  <a:srgbClr val="8A5A00"/>
                </a:solidFill>
                <a:latin typeface="Segoe UI"/>
              </a:rPr>
              <a:t>Design trade-offs</a:t>
            </a:r>
          </a:p>
        </p:txBody>
      </p:sp>
      <p:sp>
        <p:nvSpPr>
          <p:cNvPr id="18" name="TextBox 17"/>
          <p:cNvSpPr txBox="1"/>
          <p:nvPr/>
        </p:nvSpPr>
        <p:spPr>
          <a:xfrm>
            <a:off x="6309360" y="4480560"/>
            <a:ext cx="5486400" cy="1463040"/>
          </a:xfrm>
          <a:prstGeom prst="rect">
            <a:avLst/>
          </a:prstGeom>
          <a:noFill/>
        </p:spPr>
        <p:txBody>
          <a:bodyPr wrap="square">
            <a:spAutoFit/>
          </a:bodyPr>
          <a:lstStyle/>
          <a:p>
            <a:pPr algn="l">
              <a:spcAft>
                <a:spcPts val="800"/>
              </a:spcAft>
            </a:pPr>
            <a:r>
              <a:rPr sz="1100" b="1">
                <a:solidFill>
                  <a:srgbClr val="14202E"/>
                </a:solidFill>
                <a:latin typeface="Segoe UI"/>
              </a:rPr>
              <a:t>Checking window: </a:t>
            </a:r>
            <a:r>
              <a:rPr sz="1100" b="0">
                <a:solidFill>
                  <a:srgbClr val="14202E"/>
                </a:solidFill>
                <a:latin typeface="Segoe UI"/>
              </a:rPr>
              <a:t>wider is safer if the time is uncertain but makes the test weaker; ours = time uncertainty + 3 minutes</a:t>
            </a:r>
          </a:p>
          <a:p>
            <a:pPr algn="l">
              <a:spcAft>
                <a:spcPts val="800"/>
              </a:spcAft>
            </a:pPr>
            <a:r>
              <a:rPr sz="1100" b="1">
                <a:solidFill>
                  <a:srgbClr val="14202E"/>
                </a:solidFill>
                <a:latin typeface="Segoe UI"/>
              </a:rPr>
              <a:t>Heavily traded stocks: </a:t>
            </a:r>
            <a:r>
              <a:rPr sz="1100" b="0">
                <a:solidFill>
                  <a:srgbClr val="14202E"/>
                </a:solidFill>
                <a:latin typeface="Segoe UI"/>
              </a:rPr>
              <a:t>far more shares change hands than any claim, so TRADE almost never fails there - a TRADE PASS is weak evidence</a:t>
            </a:r>
          </a:p>
          <a:p>
            <a:pPr algn="l">
              <a:spcAft>
                <a:spcPts val="800"/>
              </a:spcAft>
            </a:pPr>
            <a:r>
              <a:rPr sz="1100" b="1">
                <a:solidFill>
                  <a:srgbClr val="14202E"/>
                </a:solidFill>
                <a:latin typeface="Segoe UI"/>
              </a:rPr>
              <a:t>Targets vs prices now: </a:t>
            </a:r>
            <a:r>
              <a:rPr sz="1100" b="0">
                <a:solidFill>
                  <a:srgbClr val="14202E"/>
                </a:solidFill>
                <a:latin typeface="Segoe UI"/>
              </a:rPr>
              <a:t>confusing them is the main cause of wrong ‘impossible’ answers → when unsure, ABSTAIN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CONCLUSION AND REFERENCES</a:t>
            </a:r>
          </a:p>
        </p:txBody>
      </p:sp>
      <p:sp>
        <p:nvSpPr>
          <p:cNvPr id="3" name="TextBox 2"/>
          <p:cNvSpPr txBox="1"/>
          <p:nvPr/>
        </p:nvSpPr>
        <p:spPr>
          <a:xfrm>
            <a:off x="10840212" y="274320"/>
            <a:ext cx="818388" cy="274320"/>
          </a:xfrm>
          <a:prstGeom prst="rect">
            <a:avLst/>
          </a:prstGeom>
          <a:noFill/>
        </p:spPr>
        <p:txBody>
          <a:bodyPr wrap="square">
            <a:spAutoFit/>
          </a:bodyPr>
          <a:lstStyle/>
          <a:p>
            <a:pPr algn="r">
              <a:spcAft>
                <a:spcPts val="0"/>
              </a:spcAft>
            </a:pPr>
            <a:r>
              <a:rPr sz="900" b="1">
                <a:solidFill>
                  <a:srgbClr val="0B5C8E"/>
                </a:solidFill>
                <a:latin typeface="Segoe UI"/>
              </a:rPr>
              <a:t>Outlook</a:t>
            </a:r>
          </a:p>
        </p:txBody>
      </p:sp>
      <p:sp>
        <p:nvSpPr>
          <p:cNvPr id="4" name="TextBox 3"/>
          <p:cNvSpPr txBox="1"/>
          <p:nvPr/>
        </p:nvSpPr>
        <p:spPr>
          <a:xfrm>
            <a:off x="10099548"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System</a:t>
            </a:r>
          </a:p>
        </p:txBody>
      </p:sp>
      <p:sp>
        <p:nvSpPr>
          <p:cNvPr id="5" name="TextBox 4"/>
          <p:cNvSpPr txBox="1"/>
          <p:nvPr/>
        </p:nvSpPr>
        <p:spPr>
          <a:xfrm>
            <a:off x="9203436" y="274320"/>
            <a:ext cx="896112" cy="274320"/>
          </a:xfrm>
          <a:prstGeom prst="rect">
            <a:avLst/>
          </a:prstGeom>
          <a:noFill/>
        </p:spPr>
        <p:txBody>
          <a:bodyPr wrap="square">
            <a:spAutoFit/>
          </a:bodyPr>
          <a:lstStyle/>
          <a:p>
            <a:pPr algn="r">
              <a:spcAft>
                <a:spcPts val="0"/>
              </a:spcAft>
            </a:pPr>
            <a:r>
              <a:rPr sz="900" b="0">
                <a:solidFill>
                  <a:srgbClr val="8A939C"/>
                </a:solidFill>
                <a:latin typeface="Segoe UI"/>
              </a:rPr>
              <a:t>Evidence</a:t>
            </a:r>
          </a:p>
        </p:txBody>
      </p:sp>
      <p:sp>
        <p:nvSpPr>
          <p:cNvPr id="6" name="TextBox 5"/>
          <p:cNvSpPr txBox="1"/>
          <p:nvPr/>
        </p:nvSpPr>
        <p:spPr>
          <a:xfrm>
            <a:off x="8462772" y="274320"/>
            <a:ext cx="740664" cy="274320"/>
          </a:xfrm>
          <a:prstGeom prst="rect">
            <a:avLst/>
          </a:prstGeom>
          <a:noFill/>
        </p:spPr>
        <p:txBody>
          <a:bodyPr wrap="square">
            <a:spAutoFit/>
          </a:bodyPr>
          <a:lstStyle/>
          <a:p>
            <a:pPr algn="r">
              <a:spcAft>
                <a:spcPts val="0"/>
              </a:spcAft>
            </a:pPr>
            <a:r>
              <a:rPr sz="900" b="0">
                <a:solidFill>
                  <a:srgbClr val="8A939C"/>
                </a:solidFill>
                <a:latin typeface="Segoe UI"/>
              </a:rPr>
              <a:t>Method</a:t>
            </a:r>
          </a:p>
        </p:txBody>
      </p:sp>
      <p:sp>
        <p:nvSpPr>
          <p:cNvPr id="7" name="TextBox 6"/>
          <p:cNvSpPr txBox="1"/>
          <p:nvPr/>
        </p:nvSpPr>
        <p:spPr>
          <a:xfrm>
            <a:off x="7644383" y="274320"/>
            <a:ext cx="818388" cy="274320"/>
          </a:xfrm>
          <a:prstGeom prst="rect">
            <a:avLst/>
          </a:prstGeom>
          <a:noFill/>
        </p:spPr>
        <p:txBody>
          <a:bodyPr wrap="square">
            <a:spAutoFit/>
          </a:bodyPr>
          <a:lstStyle/>
          <a:p>
            <a:pPr algn="r">
              <a:spcAft>
                <a:spcPts val="0"/>
              </a:spcAft>
            </a:pPr>
            <a:r>
              <a:rPr sz="900" b="0">
                <a:solidFill>
                  <a:srgbClr val="8A939C"/>
                </a:solidFill>
                <a:latin typeface="Segoe UI"/>
              </a:rPr>
              <a:t>Problem</a:t>
            </a:r>
          </a:p>
        </p:txBody>
      </p:sp>
      <p:sp>
        <p:nvSpPr>
          <p:cNvPr id="8" name="TextBox 7"/>
          <p:cNvSpPr txBox="1"/>
          <p:nvPr/>
        </p:nvSpPr>
        <p:spPr>
          <a:xfrm>
            <a:off x="6592823" y="274320"/>
            <a:ext cx="1051560" cy="274320"/>
          </a:xfrm>
          <a:prstGeom prst="rect">
            <a:avLst/>
          </a:prstGeom>
          <a:noFill/>
        </p:spPr>
        <p:txBody>
          <a:bodyPr wrap="square">
            <a:spAutoFit/>
          </a:bodyPr>
          <a:lstStyle/>
          <a:p>
            <a:pPr algn="r">
              <a:spcAft>
                <a:spcPts val="0"/>
              </a:spcAft>
            </a:pPr>
            <a:r>
              <a:rPr sz="900" b="0">
                <a:solidFill>
                  <a:srgbClr val="8A939C"/>
                </a:solidFill>
                <a:latin typeface="Segoe UI"/>
              </a:rPr>
              <a:t>Motivation</a:t>
            </a:r>
          </a:p>
        </p:txBody>
      </p:sp>
      <p:sp>
        <p:nvSpPr>
          <p:cNvPr id="9" name="TextBox 8"/>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Takeaway: a checker for market videos must refuse to guess</a:t>
            </a:r>
          </a:p>
        </p:txBody>
      </p:sp>
      <p:sp>
        <p:nvSpPr>
          <p:cNvPr id="10" name="Rectangle 9"/>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15</a:t>
            </a:r>
          </a:p>
        </p:txBody>
      </p:sp>
      <p:sp>
        <p:nvSpPr>
          <p:cNvPr id="12" name="TextBox 11"/>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13" name="Rounded Rectangle 12"/>
          <p:cNvSpPr/>
          <p:nvPr/>
        </p:nvSpPr>
        <p:spPr>
          <a:xfrm>
            <a:off x="548640" y="1508760"/>
            <a:ext cx="548640" cy="10058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1</a:t>
            </a:r>
          </a:p>
        </p:txBody>
      </p:sp>
      <p:sp>
        <p:nvSpPr>
          <p:cNvPr id="14" name="TextBox 13"/>
          <p:cNvSpPr txBox="1"/>
          <p:nvPr/>
        </p:nvSpPr>
        <p:spPr>
          <a:xfrm>
            <a:off x="1234440" y="1508760"/>
            <a:ext cx="4937760" cy="365760"/>
          </a:xfrm>
          <a:prstGeom prst="rect">
            <a:avLst/>
          </a:prstGeom>
          <a:noFill/>
        </p:spPr>
        <p:txBody>
          <a:bodyPr wrap="square">
            <a:spAutoFit/>
          </a:bodyPr>
          <a:lstStyle/>
          <a:p>
            <a:pPr algn="l">
              <a:spcAft>
                <a:spcPts val="0"/>
              </a:spcAft>
            </a:pPr>
            <a:r>
              <a:rPr sz="1400" b="1">
                <a:solidFill>
                  <a:srgbClr val="0B5C8E"/>
                </a:solidFill>
                <a:latin typeface="Segoe UI"/>
              </a:rPr>
              <a:t>A new checking task</a:t>
            </a:r>
          </a:p>
        </p:txBody>
      </p:sp>
      <p:sp>
        <p:nvSpPr>
          <p:cNvPr id="15" name="TextBox 14"/>
          <p:cNvSpPr txBox="1"/>
          <p:nvPr/>
        </p:nvSpPr>
        <p:spPr>
          <a:xfrm>
            <a:off x="1234440" y="1874519"/>
            <a:ext cx="4892040" cy="640080"/>
          </a:xfrm>
          <a:prstGeom prst="rect">
            <a:avLst/>
          </a:prstGeom>
          <a:noFill/>
        </p:spPr>
        <p:txBody>
          <a:bodyPr wrap="square">
            <a:spAutoFit/>
          </a:bodyPr>
          <a:lstStyle/>
          <a:p>
            <a:pPr algn="l">
              <a:spcAft>
                <a:spcPts val="0"/>
              </a:spcAft>
            </a:pPr>
            <a:r>
              <a:rPr sz="1200" b="0">
                <a:solidFill>
                  <a:srgbClr val="44505E"/>
                </a:solidFill>
                <a:latin typeface="Segoe UI"/>
              </a:rPr>
              <a:t>for each claim in a video: fits / impossible / can't tell, against the market record - ‘impossible’ only when no sensible reading fits</a:t>
            </a:r>
          </a:p>
        </p:txBody>
      </p:sp>
      <p:sp>
        <p:nvSpPr>
          <p:cNvPr id="16" name="Rounded Rectangle 15"/>
          <p:cNvSpPr/>
          <p:nvPr/>
        </p:nvSpPr>
        <p:spPr>
          <a:xfrm>
            <a:off x="548640" y="2697480"/>
            <a:ext cx="548640" cy="10058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2</a:t>
            </a:r>
          </a:p>
        </p:txBody>
      </p:sp>
      <p:sp>
        <p:nvSpPr>
          <p:cNvPr id="17" name="TextBox 16"/>
          <p:cNvSpPr txBox="1"/>
          <p:nvPr/>
        </p:nvSpPr>
        <p:spPr>
          <a:xfrm>
            <a:off x="1234440" y="2697480"/>
            <a:ext cx="4937760" cy="365760"/>
          </a:xfrm>
          <a:prstGeom prst="rect">
            <a:avLst/>
          </a:prstGeom>
          <a:noFill/>
        </p:spPr>
        <p:txBody>
          <a:bodyPr wrap="square">
            <a:spAutoFit/>
          </a:bodyPr>
          <a:lstStyle/>
          <a:p>
            <a:pPr algn="l">
              <a:spcAft>
                <a:spcPts val="0"/>
              </a:spcAft>
            </a:pPr>
            <a:r>
              <a:rPr sz="1400" b="1">
                <a:solidFill>
                  <a:srgbClr val="0B5C8E"/>
                </a:solidFill>
                <a:latin typeface="Segoe UI"/>
              </a:rPr>
              <a:t>Dating a video from its own chart</a:t>
            </a:r>
          </a:p>
        </p:txBody>
      </p:sp>
      <p:sp>
        <p:nvSpPr>
          <p:cNvPr id="18" name="TextBox 17"/>
          <p:cNvSpPr txBox="1"/>
          <p:nvPr/>
        </p:nvSpPr>
        <p:spPr>
          <a:xfrm>
            <a:off x="1234440" y="3063239"/>
            <a:ext cx="4892040" cy="640080"/>
          </a:xfrm>
          <a:prstGeom prst="rect">
            <a:avLst/>
          </a:prstGeom>
          <a:noFill/>
        </p:spPr>
        <p:txBody>
          <a:bodyPr wrap="square">
            <a:spAutoFit/>
          </a:bodyPr>
          <a:lstStyle/>
          <a:p>
            <a:pPr algn="l">
              <a:spcAft>
                <a:spcPts val="0"/>
              </a:spcAft>
            </a:pPr>
            <a:r>
              <a:rPr sz="1200" b="0">
                <a:solidFill>
                  <a:srgbClr val="44505E"/>
                </a:solidFill>
                <a:latin typeface="Segoe UI"/>
              </a:rPr>
              <a:t>the day's high only rises, so with the price it pins date and time - give or take 4–30 s; the date was right every time one was given</a:t>
            </a:r>
          </a:p>
        </p:txBody>
      </p:sp>
      <p:sp>
        <p:nvSpPr>
          <p:cNvPr id="19" name="Rounded Rectangle 18"/>
          <p:cNvSpPr/>
          <p:nvPr/>
        </p:nvSpPr>
        <p:spPr>
          <a:xfrm>
            <a:off x="548640" y="3886200"/>
            <a:ext cx="548640" cy="1005840"/>
          </a:xfrm>
          <a:prstGeom prst="roundRect">
            <a:avLst>
              <a:gd name="adj" fmla="val 6000"/>
            </a:avLst>
          </a:prstGeom>
          <a:solidFill>
            <a:srgbClr val="0B5C8E"/>
          </a:solidFill>
          <a:ln w="15875">
            <a:solidFill>
              <a:srgbClr val="0B5C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3</a:t>
            </a:r>
          </a:p>
        </p:txBody>
      </p:sp>
      <p:sp>
        <p:nvSpPr>
          <p:cNvPr id="20" name="TextBox 19"/>
          <p:cNvSpPr txBox="1"/>
          <p:nvPr/>
        </p:nvSpPr>
        <p:spPr>
          <a:xfrm>
            <a:off x="1234440" y="3886200"/>
            <a:ext cx="4937760" cy="365760"/>
          </a:xfrm>
          <a:prstGeom prst="rect">
            <a:avLst/>
          </a:prstGeom>
          <a:noFill/>
        </p:spPr>
        <p:txBody>
          <a:bodyPr wrap="square">
            <a:spAutoFit/>
          </a:bodyPr>
          <a:lstStyle/>
          <a:p>
            <a:pPr algn="l">
              <a:spcAft>
                <a:spcPts val="0"/>
              </a:spcAft>
            </a:pPr>
            <a:r>
              <a:rPr sz="1400" b="1">
                <a:solidFill>
                  <a:srgbClr val="0B5C8E"/>
                </a:solidFill>
                <a:latin typeface="Segoe UI"/>
              </a:rPr>
              <a:t>Careful checking is necessary</a:t>
            </a:r>
          </a:p>
        </p:txBody>
      </p:sp>
      <p:sp>
        <p:nvSpPr>
          <p:cNvPr id="21" name="TextBox 20"/>
          <p:cNvSpPr txBox="1"/>
          <p:nvPr/>
        </p:nvSpPr>
        <p:spPr>
          <a:xfrm>
            <a:off x="1234440" y="4251960"/>
            <a:ext cx="4892040" cy="640080"/>
          </a:xfrm>
          <a:prstGeom prst="rect">
            <a:avLst/>
          </a:prstGeom>
          <a:noFill/>
        </p:spPr>
        <p:txBody>
          <a:bodyPr wrap="square">
            <a:spAutoFit/>
          </a:bodyPr>
          <a:lstStyle/>
          <a:p>
            <a:pPr algn="l">
              <a:spcAft>
                <a:spcPts val="0"/>
              </a:spcAft>
            </a:pPr>
            <a:r>
              <a:rPr sz="1200" b="0">
                <a:solidFill>
                  <a:srgbClr val="44505E"/>
                </a:solidFill>
                <a:latin typeface="Segoe UI"/>
              </a:rPr>
              <a:t>our own careless first version's ‘impossible’ was right only 1 of 37 times on new TV days</a:t>
            </a:r>
          </a:p>
        </p:txBody>
      </p:sp>
      <p:sp>
        <p:nvSpPr>
          <p:cNvPr id="22" name="Rounded Rectangle 21"/>
          <p:cNvSpPr/>
          <p:nvPr/>
        </p:nvSpPr>
        <p:spPr>
          <a:xfrm>
            <a:off x="548640" y="5120640"/>
            <a:ext cx="5669280" cy="731520"/>
          </a:xfrm>
          <a:prstGeom prst="roundRect">
            <a:avLst>
              <a:gd name="adj" fmla="val 6000"/>
            </a:avLst>
          </a:prstGeom>
          <a:solidFill>
            <a:srgbClr val="F8E4E4"/>
          </a:solidFill>
          <a:ln w="15875">
            <a:solidFill>
              <a:srgbClr val="F8E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A3282F"/>
                </a:solidFill>
                <a:latin typeface="Segoe UI"/>
              </a:rPr>
              <a:t>Not yet measured: the final version on new TV days; real personal trade claims. Also: AI judges, small samples, vendor minute data (slide 14).</a:t>
            </a:r>
          </a:p>
        </p:txBody>
      </p:sp>
      <p:sp>
        <p:nvSpPr>
          <p:cNvPr id="23" name="TextBox 22"/>
          <p:cNvSpPr txBox="1"/>
          <p:nvPr/>
        </p:nvSpPr>
        <p:spPr>
          <a:xfrm>
            <a:off x="6400800" y="1417320"/>
            <a:ext cx="5394960" cy="320040"/>
          </a:xfrm>
          <a:prstGeom prst="rect">
            <a:avLst/>
          </a:prstGeom>
          <a:noFill/>
        </p:spPr>
        <p:txBody>
          <a:bodyPr wrap="square">
            <a:spAutoFit/>
          </a:bodyPr>
          <a:lstStyle/>
          <a:p>
            <a:pPr algn="l">
              <a:spcAft>
                <a:spcPts val="0"/>
              </a:spcAft>
            </a:pPr>
            <a:r>
              <a:rPr sz="1300" b="1">
                <a:solidFill>
                  <a:srgbClr val="0B5C8E"/>
                </a:solidFill>
                <a:latin typeface="Segoe UI"/>
              </a:rPr>
              <a:t>References (research papers and data sources)</a:t>
            </a:r>
          </a:p>
        </p:txBody>
      </p:sp>
      <p:sp>
        <p:nvSpPr>
          <p:cNvPr id="24" name="TextBox 23"/>
          <p:cNvSpPr txBox="1"/>
          <p:nvPr/>
        </p:nvSpPr>
        <p:spPr>
          <a:xfrm>
            <a:off x="6400800" y="1737360"/>
            <a:ext cx="5440680" cy="4663440"/>
          </a:xfrm>
          <a:prstGeom prst="rect">
            <a:avLst/>
          </a:prstGeom>
          <a:noFill/>
        </p:spPr>
        <p:txBody>
          <a:bodyPr wrap="square">
            <a:spAutoFit/>
          </a:bodyPr>
          <a:lstStyle/>
          <a:p>
            <a:pPr algn="l">
              <a:spcAft>
                <a:spcPts val="800"/>
              </a:spcAft>
            </a:pPr>
            <a:r>
              <a:rPr sz="850" b="0">
                <a:solidFill>
                  <a:srgbClr val="14202E"/>
                </a:solidFill>
                <a:latin typeface="Segoe UI"/>
              </a:rPr>
              <a:t>•  [1] Thorne et al. FEVER: a large-scale dataset for Fact Extraction and VERification. NAACL 2018.</a:t>
            </a:r>
          </a:p>
          <a:p>
            <a:pPr algn="l">
              <a:spcAft>
                <a:spcPts val="800"/>
              </a:spcAft>
            </a:pPr>
            <a:r>
              <a:rPr sz="850" b="0">
                <a:solidFill>
                  <a:srgbClr val="14202E"/>
                </a:solidFill>
                <a:latin typeface="Segoe UI"/>
              </a:rPr>
              <a:t>•  [2] Chen et al. TabFact: a large-scale dataset for table-based fact verification. ICLR 2020.</a:t>
            </a:r>
          </a:p>
          <a:p>
            <a:pPr algn="l">
              <a:spcAft>
                <a:spcPts val="800"/>
              </a:spcAft>
            </a:pPr>
            <a:r>
              <a:rPr sz="850" b="0">
                <a:solidFill>
                  <a:srgbClr val="14202E"/>
                </a:solidFill>
                <a:latin typeface="Segoe UI"/>
              </a:rPr>
              <a:t>•  [3] Aly et al. FEVEROUS: Fact Extraction and VERification Over Unstructured and Structured information. NeurIPS D&amp;B 2021.</a:t>
            </a:r>
          </a:p>
          <a:p>
            <a:pPr algn="l">
              <a:spcAft>
                <a:spcPts val="800"/>
              </a:spcAft>
            </a:pPr>
            <a:r>
              <a:rPr sz="850" b="0">
                <a:solidFill>
                  <a:srgbClr val="14202E"/>
                </a:solidFill>
                <a:latin typeface="Segoe UI"/>
              </a:rPr>
              <a:t>•  [4] Venktesh V. et al. QuanTemp: a real-world open-domain benchmark for fact-checking numerical claims. SIGIR 2024.</a:t>
            </a:r>
          </a:p>
          <a:p>
            <a:pPr algn="l">
              <a:spcAft>
                <a:spcPts val="800"/>
              </a:spcAft>
            </a:pPr>
            <a:r>
              <a:rPr sz="850" b="0">
                <a:solidFill>
                  <a:srgbClr val="14202E"/>
                </a:solidFill>
                <a:latin typeface="Segoe UI"/>
              </a:rPr>
              <a:t>•  [5] Luo, Darrell, Rohrbach. NewsCLIPpings: automatic generation of out-of-context multimodal media. EMNLP 2021.</a:t>
            </a:r>
          </a:p>
          <a:p>
            <a:pPr algn="l">
              <a:spcAft>
                <a:spcPts val="800"/>
              </a:spcAft>
            </a:pPr>
            <a:r>
              <a:rPr sz="850" b="0">
                <a:solidFill>
                  <a:srgbClr val="14202E"/>
                </a:solidFill>
                <a:latin typeface="Segoe UI"/>
              </a:rPr>
              <a:t>•  [6] Geifman, El-Yaniv. Selective classification for deep neural networks. NeurIPS 2017.</a:t>
            </a:r>
          </a:p>
          <a:p>
            <a:pPr algn="l">
              <a:spcAft>
                <a:spcPts val="800"/>
              </a:spcAft>
            </a:pPr>
            <a:r>
              <a:rPr sz="850" b="0">
                <a:solidFill>
                  <a:srgbClr val="14202E"/>
                </a:solidFill>
                <a:latin typeface="Segoe UI"/>
              </a:rPr>
              <a:t>•  [7] Manski. Partial Identification of Probability Distributions. Springer, 2003.</a:t>
            </a:r>
          </a:p>
          <a:p>
            <a:pPr algn="l">
              <a:spcAft>
                <a:spcPts val="800"/>
              </a:spcAft>
            </a:pPr>
            <a:r>
              <a:rPr sz="850" b="0">
                <a:solidFill>
                  <a:srgbClr val="14202E"/>
                </a:solidFill>
                <a:latin typeface="Segoe UI"/>
              </a:rPr>
              <a:t>•  [8] Radford et al. Robust speech recognition via large-scale weak supervision (Whisper). ICML 2023.</a:t>
            </a:r>
          </a:p>
          <a:p>
            <a:pPr algn="l">
              <a:spcAft>
                <a:spcPts val="800"/>
              </a:spcAft>
            </a:pPr>
            <a:r>
              <a:rPr sz="850" b="0">
                <a:solidFill>
                  <a:srgbClr val="14202E"/>
                </a:solidFill>
                <a:latin typeface="Segoe UI"/>
              </a:rPr>
              <a:t>•  [9] Grigoras. Digital audio recording analysis: the Electric Network Frequency (ENF) criterion. Int. J. Speech, Language and the Law 12(1), 2005.</a:t>
            </a:r>
          </a:p>
          <a:p>
            <a:pPr algn="l">
              <a:spcAft>
                <a:spcPts val="800"/>
              </a:spcAft>
            </a:pPr>
            <a:r>
              <a:rPr sz="850" b="0">
                <a:solidFill>
                  <a:srgbClr val="14202E"/>
                </a:solidFill>
                <a:latin typeface="Segoe UI"/>
              </a:rPr>
              <a:t>•  [10] Luo, Li, Wang, Lin. ChartOCR: data extraction from charts images via a deep hybrid framework. WACV 2021.</a:t>
            </a:r>
          </a:p>
          <a:p>
            <a:pPr algn="l">
              <a:spcAft>
                <a:spcPts val="800"/>
              </a:spcAft>
            </a:pPr>
            <a:r>
              <a:rPr sz="850" b="0">
                <a:solidFill>
                  <a:srgbClr val="14202E"/>
                </a:solidFill>
                <a:latin typeface="Segoe UI"/>
              </a:rPr>
              <a:t>•  [11] Liu et al. DePlot: one-shot visual language reasoning by plot-to-table translation. Findings of ACL 2023.</a:t>
            </a:r>
          </a:p>
          <a:p>
            <a:pPr algn="l">
              <a:spcAft>
                <a:spcPts val="800"/>
              </a:spcAft>
            </a:pPr>
            <a:r>
              <a:rPr sz="850" b="0">
                <a:solidFill>
                  <a:srgbClr val="14202E"/>
                </a:solidFill>
                <a:latin typeface="Segoe UI"/>
              </a:rPr>
              <a:t>•  [12] Sakoe, Chiba. Dynamic programming algorithm optimization for spoken word recognition. IEEE Trans. ASSP 26(1), 1978.</a:t>
            </a:r>
          </a:p>
          <a:p>
            <a:pPr algn="l">
              <a:spcAft>
                <a:spcPts val="800"/>
              </a:spcAft>
            </a:pPr>
            <a:r>
              <a:rPr sz="850" b="0">
                <a:solidFill>
                  <a:srgbClr val="14202E"/>
                </a:solidFill>
                <a:latin typeface="Segoe UI"/>
              </a:rPr>
              <a:t>•  [13] SEBI circular HO/47/17/12(11)2025-MRD-POD3/I/11107/2026, 8 May 2026 (in force 1 Jul 2026), FAQ Q8.</a:t>
            </a:r>
          </a:p>
          <a:p>
            <a:pPr algn="l">
              <a:spcAft>
                <a:spcPts val="800"/>
              </a:spcAft>
            </a:pPr>
            <a:r>
              <a:rPr sz="850" b="0">
                <a:solidFill>
                  <a:srgbClr val="14202E"/>
                </a:solidFill>
                <a:latin typeface="Segoe UI"/>
              </a:rPr>
              <a:t>•  [14] Yahoo Finance 1-minute data for NSE: day high/low from 10 Sep 2026, full minute data 29 Sep–8 Oct 2026 (vendor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APPENDIX</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Appendix A · The decision rules in symbols (for specialists)</a:t>
            </a:r>
          </a:p>
        </p:txBody>
      </p:sp>
      <p:sp>
        <p:nvSpPr>
          <p:cNvPr id="4" name="Rectangle 3"/>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16</a:t>
            </a:r>
          </a:p>
        </p:txBody>
      </p:sp>
      <p:sp>
        <p:nvSpPr>
          <p:cNvPr id="6" name="TextBox 5"/>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graphicFrame>
        <p:nvGraphicFramePr>
          <p:cNvPr id="7" name="Table 6"/>
          <p:cNvGraphicFramePr>
            <a:graphicFrameLocks noGrp="1"/>
          </p:cNvGraphicFramePr>
          <p:nvPr/>
        </p:nvGraphicFramePr>
        <p:xfrm>
          <a:off x="548640" y="1463040"/>
          <a:ext cx="11155680" cy="4681728"/>
        </p:xfrm>
        <a:graphic>
          <a:graphicData uri="http://schemas.openxmlformats.org/drawingml/2006/table">
            <a:tbl>
              <a:tblPr firstRow="1" bandRow="1">
                <a:tableStyleId>{5C22544A-7EE6-4342-B048-85BDC9FD1C3A}</a:tableStyleId>
              </a:tblPr>
              <a:tblGrid>
                <a:gridCol w="1554480"/>
                <a:gridCol w="4389120"/>
                <a:gridCol w="5212080"/>
              </a:tblGrid>
              <a:tr h="585216">
                <a:tc>
                  <a:txBody>
                    <a:bodyPr wrap="square"/>
                    <a:lstStyle/>
                    <a:p>
                      <a:r>
                        <a:rPr sz="1100" b="1">
                          <a:solidFill>
                            <a:srgbClr val="FFFFFF"/>
                          </a:solidFill>
                          <a:latin typeface="Segoe UI"/>
                        </a:rPr>
                        <a:t>Rule</a:t>
                      </a:r>
                    </a:p>
                  </a:txBody>
                  <a:tcPr marL="54864" marR="54864" marT="27432" marB="27432">
                    <a:solidFill>
                      <a:srgbClr val="1F4E79"/>
                    </a:solidFill>
                  </a:tcPr>
                </a:tc>
                <a:tc>
                  <a:txBody>
                    <a:bodyPr wrap="square"/>
                    <a:lstStyle/>
                    <a:p>
                      <a:r>
                        <a:rPr sz="1100" b="1">
                          <a:solidFill>
                            <a:srgbClr val="FFFFFF"/>
                          </a:solidFill>
                          <a:latin typeface="Segoe UI"/>
                        </a:rPr>
                        <a:t>In plain words</a:t>
                      </a:r>
                    </a:p>
                  </a:txBody>
                  <a:tcPr marL="54864" marR="54864" marT="27432" marB="27432">
                    <a:solidFill>
                      <a:srgbClr val="1F4E79"/>
                    </a:solidFill>
                  </a:tcPr>
                </a:tc>
                <a:tc>
                  <a:txBody>
                    <a:bodyPr wrap="square"/>
                    <a:lstStyle/>
                    <a:p>
                      <a:r>
                        <a:rPr sz="1100" b="1">
                          <a:solidFill>
                            <a:srgbClr val="FFFFFF"/>
                          </a:solidFill>
                          <a:latin typeface="Segoe UI"/>
                        </a:rPr>
                        <a:t>Formal</a:t>
                      </a:r>
                    </a:p>
                  </a:txBody>
                  <a:tcPr marL="54864" marR="54864" marT="27432" marB="27432">
                    <a:solidFill>
                      <a:srgbClr val="1F4E79"/>
                    </a:solidFill>
                  </a:tcPr>
                </a:tc>
              </a:tr>
              <a:tr h="585216">
                <a:tc>
                  <a:txBody>
                    <a:bodyPr wrap="square"/>
                    <a:lstStyle/>
                    <a:p>
                      <a:r>
                        <a:rPr sz="1100" b="0">
                          <a:solidFill>
                            <a:srgbClr val="14202E"/>
                          </a:solidFill>
                          <a:latin typeface="Segoe UI"/>
                        </a:rPr>
                        <a:t>Time map</a:t>
                      </a:r>
                    </a:p>
                  </a:txBody>
                  <a:tcPr marL="54864" marR="54864" marT="27432" marB="27432">
                    <a:solidFill>
                      <a:srgbClr val="FFFFFF"/>
                    </a:solidFill>
                  </a:tcPr>
                </a:tc>
                <a:tc>
                  <a:txBody>
                    <a:bodyPr wrap="square"/>
                    <a:lstStyle/>
                    <a:p>
                      <a:r>
                        <a:rPr sz="1100" b="0">
                          <a:solidFill>
                            <a:srgbClr val="14202E"/>
                          </a:solidFill>
                          <a:latin typeface="Segoe UI"/>
                        </a:rPr>
                        <a:t>per day, keep shifts where price AND day-high match the record in every frame</a:t>
                      </a:r>
                    </a:p>
                  </a:txBody>
                  <a:tcPr marL="54864" marR="54864" marT="27432" marB="27432">
                    <a:solidFill>
                      <a:srgbClr val="FFFFFF"/>
                    </a:solidFill>
                  </a:tcPr>
                </a:tc>
                <a:tc>
                  <a:txBody>
                    <a:bodyPr wrap="square"/>
                    <a:lstStyle/>
                    <a:p>
                      <a:r>
                        <a:rPr sz="1100" b="0">
                          <a:solidFill>
                            <a:srgbClr val="14202E"/>
                          </a:solidFill>
                          <a:latin typeface="Segoe UI"/>
                        </a:rPr>
                        <a:t>T_d = ⋂_k {τ : p_k ∈ [lo,hi]_d(t_k+τ) ± ε  ∧  RunMax_d(t_k+τ) ∈ [h_k−1, h_k+1]}</a:t>
                      </a:r>
                    </a:p>
                  </a:txBody>
                  <a:tcPr marL="54864" marR="54864" marT="27432" marB="27432">
                    <a:solidFill>
                      <a:srgbClr val="FFFFFF"/>
                    </a:solidFill>
                  </a:tcPr>
                </a:tc>
              </a:tr>
              <a:tr h="585216">
                <a:tc>
                  <a:txBody>
                    <a:bodyPr wrap="square"/>
                    <a:lstStyle/>
                    <a:p>
                      <a:r>
                        <a:rPr sz="1100" b="0">
                          <a:solidFill>
                            <a:srgbClr val="14202E"/>
                          </a:solidFill>
                          <a:latin typeface="Segoe UI"/>
                        </a:rPr>
                        <a:t>Accept time</a:t>
                      </a:r>
                    </a:p>
                  </a:txBody>
                  <a:tcPr marL="54864" marR="54864" marT="27432" marB="27432">
                    <a:solidFill>
                      <a:srgbClr val="F4F6F8"/>
                    </a:solidFill>
                  </a:tcPr>
                </a:tc>
                <a:tc>
                  <a:txBody>
                    <a:bodyPr wrap="square"/>
                    <a:lstStyle/>
                    <a:p>
                      <a:r>
                        <a:rPr sz="1100" b="0">
                          <a:solidFill>
                            <a:srgbClr val="14202E"/>
                          </a:solidFill>
                          <a:latin typeface="Segoe UI"/>
                        </a:rPr>
                        <a:t>one day, one stretch, ≤ ±90 s; else WEAK/ABSTAIN + labelled clock</a:t>
                      </a:r>
                    </a:p>
                  </a:txBody>
                  <a:tcPr marL="54864" marR="54864" marT="27432" marB="27432">
                    <a:solidFill>
                      <a:srgbClr val="F4F6F8"/>
                    </a:solidFill>
                  </a:tcPr>
                </a:tc>
                <a:tc>
                  <a:txBody>
                    <a:bodyPr wrap="square"/>
                    <a:lstStyle/>
                    <a:p>
                      <a:r>
                        <a:rPr sz="1100" b="0">
                          <a:solidFill>
                            <a:srgbClr val="14202E"/>
                          </a:solidFill>
                          <a:latin typeface="Segoe UI"/>
                        </a:rPr>
                        <a:t>IDENTIFIED ⇔ |{d : T_d ≠ ∅}| = 1, T_d one interval, u ≤ 90 s</a:t>
                      </a:r>
                    </a:p>
                  </a:txBody>
                  <a:tcPr marL="54864" marR="54864" marT="27432" marB="27432">
                    <a:solidFill>
                      <a:srgbClr val="F4F6F8"/>
                    </a:solidFill>
                  </a:tcPr>
                </a:tc>
              </a:tr>
              <a:tr h="585216">
                <a:tc>
                  <a:txBody>
                    <a:bodyPr wrap="square"/>
                    <a:lstStyle/>
                    <a:p>
                      <a:r>
                        <a:rPr sz="1100" b="0">
                          <a:solidFill>
                            <a:srgbClr val="14202E"/>
                          </a:solidFill>
                          <a:latin typeface="Segoe UI"/>
                        </a:rPr>
                        <a:t>Compatibility</a:t>
                      </a:r>
                    </a:p>
                  </a:txBody>
                  <a:tcPr marL="54864" marR="54864" marT="27432" marB="27432">
                    <a:solidFill>
                      <a:srgbClr val="FFFFFF"/>
                    </a:solidFill>
                  </a:tcPr>
                </a:tc>
                <a:tc>
                  <a:txBody>
                    <a:bodyPr wrap="square"/>
                    <a:lstStyle/>
                    <a:p>
                      <a:r>
                        <a:rPr sz="1100" b="0">
                          <a:solidFill>
                            <a:srgbClr val="14202E"/>
                          </a:solidFill>
                          <a:latin typeface="Segoe UI"/>
                        </a:rPr>
                        <a:t>stated value (± rounding) inside a minute the speaker could quote</a:t>
                      </a:r>
                    </a:p>
                  </a:txBody>
                  <a:tcPr marL="54864" marR="54864" marT="27432" marB="27432">
                    <a:solidFill>
                      <a:srgbClr val="FFFFFF"/>
                    </a:solidFill>
                  </a:tcPr>
                </a:tc>
                <a:tc>
                  <a:txBody>
                    <a:bodyPr wrap="square"/>
                    <a:lstStyle/>
                    <a:p>
                      <a:r>
                        <a:rPr sz="1100" b="0">
                          <a:solidFill>
                            <a:srgbClr val="14202E"/>
                          </a:solidFill>
                          <a:latin typeface="Segoe UI"/>
                        </a:rPr>
                        <a:t>ok(c,a) ⇔ ∃m ∈ W_a(t+τ): P ∈ [lo_m−δ, hi_m+δ]   (‘above X’: hi_m ≥ X−δ)</a:t>
                      </a:r>
                    </a:p>
                  </a:txBody>
                  <a:tcPr marL="54864" marR="54864" marT="27432" marB="27432">
                    <a:solidFill>
                      <a:srgbClr val="FFFFFF"/>
                    </a:solidFill>
                  </a:tcPr>
                </a:tc>
              </a:tr>
              <a:tr h="585216">
                <a:tc>
                  <a:txBody>
                    <a:bodyPr wrap="square"/>
                    <a:lstStyle/>
                    <a:p>
                      <a:r>
                        <a:rPr sz="1100" b="0">
                          <a:solidFill>
                            <a:srgbClr val="14202E"/>
                          </a:solidFill>
                          <a:latin typeface="Segoe UI"/>
                        </a:rPr>
                        <a:t>FAIL</a:t>
                      </a:r>
                    </a:p>
                  </a:txBody>
                  <a:tcPr marL="54864" marR="54864" marT="27432" marB="27432">
                    <a:solidFill>
                      <a:srgbClr val="F4F6F8"/>
                    </a:solidFill>
                  </a:tcPr>
                </a:tc>
                <a:tc>
                  <a:txBody>
                    <a:bodyPr wrap="square"/>
                    <a:lstStyle/>
                    <a:p>
                      <a:r>
                        <a:rPr sz="1100" b="0">
                          <a:solidFill>
                            <a:srgbClr val="14202E"/>
                          </a:solidFill>
                          <a:latin typeface="Segoe UI"/>
                        </a:rPr>
                        <a:t>complete data, clear current-price claim, every reading fails</a:t>
                      </a:r>
                    </a:p>
                  </a:txBody>
                  <a:tcPr marL="54864" marR="54864" marT="27432" marB="27432">
                    <a:solidFill>
                      <a:srgbClr val="F4F6F8"/>
                    </a:solidFill>
                  </a:tcPr>
                </a:tc>
                <a:tc>
                  <a:txBody>
                    <a:bodyPr wrap="square"/>
                    <a:lstStyle/>
                    <a:p>
                      <a:r>
                        <a:rPr sz="1100" b="0">
                          <a:solidFill>
                            <a:srgbClr val="14202E"/>
                          </a:solidFill>
                          <a:latin typeface="Segoe UI"/>
                        </a:rPr>
                        <a:t>complete(W) ≥ 90 % ∧ clear(c) ∧ ∀a∈𝒜 ¬ok(c,a)   (day high/low: gap &gt; 0.25 %)</a:t>
                      </a:r>
                    </a:p>
                  </a:txBody>
                  <a:tcPr marL="54864" marR="54864" marT="27432" marB="27432">
                    <a:solidFill>
                      <a:srgbClr val="F4F6F8"/>
                    </a:solidFill>
                  </a:tcPr>
                </a:tc>
              </a:tr>
              <a:tr h="585216">
                <a:tc>
                  <a:txBody>
                    <a:bodyPr wrap="square"/>
                    <a:lstStyle/>
                    <a:p>
                      <a:r>
                        <a:rPr sz="1100" b="0">
                          <a:solidFill>
                            <a:srgbClr val="14202E"/>
                          </a:solidFill>
                          <a:latin typeface="Segoe UI"/>
                        </a:rPr>
                        <a:t>PASS / ABSTAIN</a:t>
                      </a:r>
                    </a:p>
                  </a:txBody>
                  <a:tcPr marL="54864" marR="54864" marT="27432" marB="27432">
                    <a:solidFill>
                      <a:srgbClr val="FFFFFF"/>
                    </a:solidFill>
                  </a:tcPr>
                </a:tc>
                <a:tc>
                  <a:txBody>
                    <a:bodyPr wrap="square"/>
                    <a:lstStyle/>
                    <a:p>
                      <a:r>
                        <a:rPr sz="1100" b="0">
                          <a:solidFill>
                            <a:srgbClr val="14202E"/>
                          </a:solidFill>
                          <a:latin typeface="Segoe UI"/>
                        </a:rPr>
                        <a:t>one admissible reading fits / anything else</a:t>
                      </a:r>
                    </a:p>
                  </a:txBody>
                  <a:tcPr marL="54864" marR="54864" marT="27432" marB="27432">
                    <a:solidFill>
                      <a:srgbClr val="FFFFFF"/>
                    </a:solidFill>
                  </a:tcPr>
                </a:tc>
                <a:tc>
                  <a:txBody>
                    <a:bodyPr wrap="square"/>
                    <a:lstStyle/>
                    <a:p>
                      <a:r>
                        <a:rPr sz="1100" b="0">
                          <a:solidFill>
                            <a:srgbClr val="14202E"/>
                          </a:solidFill>
                          <a:latin typeface="Segoe UI"/>
                        </a:rPr>
                        <a:t>PASS ⇔ ∃a ok(c,a);  ABSTAIN otherwise</a:t>
                      </a:r>
                    </a:p>
                  </a:txBody>
                  <a:tcPr marL="54864" marR="54864" marT="27432" marB="27432">
                    <a:solidFill>
                      <a:srgbClr val="FFFFFF"/>
                    </a:solidFill>
                  </a:tcPr>
                </a:tc>
              </a:tr>
              <a:tr h="585216">
                <a:tc>
                  <a:txBody>
                    <a:bodyPr wrap="square"/>
                    <a:lstStyle/>
                    <a:p>
                      <a:r>
                        <a:rPr sz="1100" b="0">
                          <a:solidFill>
                            <a:srgbClr val="14202E"/>
                          </a:solidFill>
                          <a:latin typeface="Segoe UI"/>
                        </a:rPr>
                        <a:t>Trade</a:t>
                      </a:r>
                    </a:p>
                  </a:txBody>
                  <a:tcPr marL="54864" marR="54864" marT="27432" marB="27432">
                    <a:solidFill>
                      <a:srgbClr val="F4F6F8"/>
                    </a:solidFill>
                  </a:tcPr>
                </a:tc>
                <a:tc>
                  <a:txBody>
                    <a:bodyPr wrap="square"/>
                    <a:lstStyle/>
                    <a:p>
                      <a:r>
                        <a:rPr sz="1100" b="0">
                          <a:solidFill>
                            <a:srgbClr val="14202E"/>
                          </a:solidFill>
                          <a:latin typeface="Segoe UI"/>
                        </a:rPr>
                        <a:t>no more shares than all of NSE traded at that price then; holiday = no trading</a:t>
                      </a:r>
                    </a:p>
                  </a:txBody>
                  <a:tcPr marL="54864" marR="54864" marT="27432" marB="27432">
                    <a:solidFill>
                      <a:srgbClr val="F4F6F8"/>
                    </a:solidFill>
                  </a:tcPr>
                </a:tc>
                <a:tc>
                  <a:txBody>
                    <a:bodyPr wrap="square"/>
                    <a:lstStyle/>
                    <a:p>
                      <a:r>
                        <a:rPr sz="1100" b="0">
                          <a:solidFill>
                            <a:srgbClr val="14202E"/>
                          </a:solidFill>
                          <a:latin typeface="Segoe UI"/>
                        </a:rPr>
                        <a:t>FAIL ⇔ holiday ∨ ∀a ¬ok ∨ q &gt; Σ{V_m : P ∈ [lo_m,hi_m]}</a:t>
                      </a:r>
                    </a:p>
                  </a:txBody>
                  <a:tcPr marL="54864" marR="54864" marT="27432" marB="27432">
                    <a:solidFill>
                      <a:srgbClr val="F4F6F8"/>
                    </a:solidFill>
                  </a:tcPr>
                </a:tc>
              </a:tr>
              <a:tr h="585216">
                <a:tc>
                  <a:txBody>
                    <a:bodyPr wrap="square"/>
                    <a:lstStyle/>
                    <a:p>
                      <a:r>
                        <a:rPr sz="1100" b="0">
                          <a:solidFill>
                            <a:srgbClr val="14202E"/>
                          </a:solidFill>
                          <a:latin typeface="Segoe UI"/>
                        </a:rPr>
                        <a:t>Tenure</a:t>
                      </a:r>
                    </a:p>
                  </a:txBody>
                  <a:tcPr marL="54864" marR="54864" marT="27432" marB="27432">
                    <a:solidFill>
                      <a:srgbClr val="FFFFFF"/>
                    </a:solidFill>
                  </a:tcPr>
                </a:tc>
                <a:tc>
                  <a:txBody>
                    <a:bodyPr wrap="square"/>
                    <a:lstStyle/>
                    <a:p>
                      <a:r>
                        <a:rPr sz="1100" b="0">
                          <a:solidFill>
                            <a:srgbClr val="14202E"/>
                          </a:solidFill>
                          <a:latin typeface="Segoe UI"/>
                        </a:rPr>
                        <a:t>age of the data when used; the rule binds only some people and conduct</a:t>
                      </a:r>
                    </a:p>
                  </a:txBody>
                  <a:tcPr marL="54864" marR="54864" marT="27432" marB="27432">
                    <a:solidFill>
                      <a:srgbClr val="FFFFFF"/>
                    </a:solidFill>
                  </a:tcPr>
                </a:tc>
                <a:tc>
                  <a:txBody>
                    <a:bodyPr wrap="square"/>
                    <a:lstStyle/>
                    <a:p>
                      <a:r>
                        <a:rPr sz="1100" b="0">
                          <a:solidFill>
                            <a:srgbClr val="14202E"/>
                          </a:solidFill>
                          <a:latin typeface="Segoe UI"/>
                        </a:rPr>
                        <a:t>PASS ⇔ age ≥ 30 d ∨ use &lt; 1 Jul 2026; else ABSTAIN (never FAIL)</a:t>
                      </a:r>
                    </a:p>
                  </a:txBody>
                  <a:tcPr marL="54864" marR="54864" marT="27432" marB="2743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APPENDIX</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Appendix B · Proofs of the two guarantees (for specialists)</a:t>
            </a:r>
          </a:p>
        </p:txBody>
      </p:sp>
      <p:sp>
        <p:nvSpPr>
          <p:cNvPr id="4" name="Rectangle 3"/>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17</a:t>
            </a:r>
          </a:p>
        </p:txBody>
      </p:sp>
      <p:sp>
        <p:nvSpPr>
          <p:cNvPr id="6" name="TextBox 5"/>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sp>
        <p:nvSpPr>
          <p:cNvPr id="7" name="TextBox 6"/>
          <p:cNvSpPr txBox="1"/>
          <p:nvPr/>
        </p:nvSpPr>
        <p:spPr>
          <a:xfrm>
            <a:off x="548640" y="1463040"/>
            <a:ext cx="10972800" cy="320040"/>
          </a:xfrm>
          <a:prstGeom prst="rect">
            <a:avLst/>
          </a:prstGeom>
          <a:noFill/>
        </p:spPr>
        <p:txBody>
          <a:bodyPr wrap="square">
            <a:spAutoFit/>
          </a:bodyPr>
          <a:lstStyle/>
          <a:p>
            <a:pPr algn="l">
              <a:spcAft>
                <a:spcPts val="0"/>
              </a:spcAft>
            </a:pPr>
            <a:r>
              <a:rPr sz="1400" b="1">
                <a:solidFill>
                  <a:srgbClr val="0B5C8E"/>
                </a:solidFill>
                <a:latin typeface="Segoe UI"/>
              </a:rPr>
              <a:t>Assumptions</a:t>
            </a:r>
          </a:p>
        </p:txBody>
      </p:sp>
      <p:sp>
        <p:nvSpPr>
          <p:cNvPr id="8" name="TextBox 7"/>
          <p:cNvSpPr txBox="1"/>
          <p:nvPr/>
        </p:nvSpPr>
        <p:spPr>
          <a:xfrm>
            <a:off x="548640" y="1783080"/>
            <a:ext cx="11155680" cy="1280160"/>
          </a:xfrm>
          <a:prstGeom prst="rect">
            <a:avLst/>
          </a:prstGeom>
          <a:noFill/>
        </p:spPr>
        <p:txBody>
          <a:bodyPr wrap="square">
            <a:spAutoFit/>
          </a:bodyPr>
          <a:lstStyle/>
          <a:p>
            <a:pPr algn="l">
              <a:spcAft>
                <a:spcPts val="800"/>
              </a:spcAft>
            </a:pPr>
            <a:r>
              <a:rPr sz="1200" b="1">
                <a:solidFill>
                  <a:srgbClr val="14202E"/>
                </a:solidFill>
                <a:latin typeface="Segoe UI"/>
              </a:rPr>
              <a:t>A1 reading: </a:t>
            </a:r>
            <a:r>
              <a:rPr sz="1200" b="0">
                <a:solidFill>
                  <a:srgbClr val="14202E"/>
                </a:solidFill>
                <a:latin typeface="Segoe UI"/>
              </a:rPr>
              <a:t>each OCR reading p_k is the displayed price within ε = 0.10; the label h_k equals the day-high so far rounded, truncated or ceiled (|h_k − RunMax| ≤ 1).</a:t>
            </a:r>
          </a:p>
          <a:p>
            <a:pPr algn="l">
              <a:spcAft>
                <a:spcPts val="800"/>
              </a:spcAft>
            </a:pPr>
            <a:r>
              <a:rPr sz="1200" b="1">
                <a:solidFill>
                  <a:srgbClr val="14202E"/>
                </a:solidFill>
                <a:latin typeface="Segoe UI"/>
              </a:rPr>
              <a:t>A2 feed: </a:t>
            </a:r>
            <a:r>
              <a:rPr sz="1200" b="0">
                <a:solidFill>
                  <a:srgbClr val="14202E"/>
                </a:solidFill>
                <a:latin typeface="Segoe UI"/>
              </a:rPr>
              <a:t>the display and the reference record report the same market (same instrument, same minute bars), with one constant video→market shift τ* within the recording.</a:t>
            </a:r>
          </a:p>
          <a:p>
            <a:pPr algn="l">
              <a:spcAft>
                <a:spcPts val="800"/>
              </a:spcAft>
            </a:pPr>
            <a:r>
              <a:rPr sz="1200" b="1">
                <a:solidFill>
                  <a:srgbClr val="14202E"/>
                </a:solidFill>
                <a:latin typeface="Segoe UI"/>
              </a:rPr>
              <a:t>A3 claim: </a:t>
            </a:r>
            <a:r>
              <a:rPr sz="1200" b="0">
                <a:solidFill>
                  <a:srgbClr val="14202E"/>
                </a:solidFill>
                <a:latin typeface="Segoe UI"/>
              </a:rPr>
              <a:t>the true reading/assumption a* of claim c lies in 𝒜, and the record is correct on the window W_{a*}.</a:t>
            </a:r>
          </a:p>
        </p:txBody>
      </p:sp>
      <p:sp>
        <p:nvSpPr>
          <p:cNvPr id="9" name="Rounded Rectangle 8"/>
          <p:cNvSpPr/>
          <p:nvPr/>
        </p:nvSpPr>
        <p:spPr>
          <a:xfrm>
            <a:off x="548640" y="3154680"/>
            <a:ext cx="11155680" cy="45720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5C8E"/>
                </a:solidFill>
                <a:latin typeface="Segoe UI"/>
              </a:rPr>
              <a:t>Proposition 1 (‘true time kept’). Under A1–A2, the true shift τ* of the true day d* satisfies τ* ∈ T_d*.</a:t>
            </a:r>
          </a:p>
        </p:txBody>
      </p:sp>
      <p:sp>
        <p:nvSpPr>
          <p:cNvPr id="10" name="TextBox 9"/>
          <p:cNvSpPr txBox="1"/>
          <p:nvPr/>
        </p:nvSpPr>
        <p:spPr>
          <a:xfrm>
            <a:off x="548640" y="3611880"/>
            <a:ext cx="11155680" cy="1005840"/>
          </a:xfrm>
          <a:prstGeom prst="rect">
            <a:avLst/>
          </a:prstGeom>
          <a:noFill/>
        </p:spPr>
        <p:txBody>
          <a:bodyPr wrap="square">
            <a:spAutoFit/>
          </a:bodyPr>
          <a:lstStyle/>
          <a:p>
            <a:pPr algn="l">
              <a:spcAft>
                <a:spcPts val="0"/>
              </a:spcAft>
            </a:pPr>
            <a:r>
              <a:rPr sz="1200" b="0">
                <a:solidFill>
                  <a:srgbClr val="14202E"/>
                </a:solidFill>
                <a:latin typeface="Segoe UI"/>
              </a:rPr>
              <a:t>Proof. Fix frame k. At market time t_k + τ* on d*, the displayed price lies in that minute's [lo, hi] (A2), so p_k lies in it within ε (A1); the displayed label is the running maximum up to that time, so RunMax lies in [h_k − 1, h_k + 1] (A1). Hence τ* belongs to frame k's feasible set S_k. As this holds for every k, τ* ∈ ⋂_k S_k = T_d*.  ∎   (Rejection - no day with T_d ≠ ∅ - therefore certifies that A1 or A2 failed, and is reported as ABSTAIN.)</a:t>
            </a:r>
          </a:p>
        </p:txBody>
      </p:sp>
      <p:sp>
        <p:nvSpPr>
          <p:cNvPr id="11" name="Rounded Rectangle 10"/>
          <p:cNvSpPr/>
          <p:nvPr/>
        </p:nvSpPr>
        <p:spPr>
          <a:xfrm>
            <a:off x="548640" y="4709160"/>
            <a:ext cx="11155680" cy="457200"/>
          </a:xfrm>
          <a:prstGeom prst="roundRect">
            <a:avLst>
              <a:gd name="adj" fmla="val 6000"/>
            </a:avLst>
          </a:prstGeom>
          <a:solidFill>
            <a:srgbClr val="EEF3F8"/>
          </a:solidFill>
          <a:ln w="15875">
            <a:solidFill>
              <a:srgbClr val="EEF3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5C8E"/>
                </a:solidFill>
                <a:latin typeface="Segoe UI"/>
              </a:rPr>
              <a:t>Proposition 2 (‘never wrongly impossible’). Under A3, if the verifier outputs FAIL for c, then c is false.</a:t>
            </a:r>
          </a:p>
        </p:txBody>
      </p:sp>
      <p:sp>
        <p:nvSpPr>
          <p:cNvPr id="12" name="TextBox 11"/>
          <p:cNvSpPr txBox="1"/>
          <p:nvPr/>
        </p:nvSpPr>
        <p:spPr>
          <a:xfrm>
            <a:off x="548640" y="5166360"/>
            <a:ext cx="11155680" cy="1005840"/>
          </a:xfrm>
          <a:prstGeom prst="rect">
            <a:avLst/>
          </a:prstGeom>
          <a:noFill/>
        </p:spPr>
        <p:txBody>
          <a:bodyPr wrap="square">
            <a:spAutoFit/>
          </a:bodyPr>
          <a:lstStyle/>
          <a:p>
            <a:pPr algn="l">
              <a:spcAft>
                <a:spcPts val="0"/>
              </a:spcAft>
            </a:pPr>
            <a:r>
              <a:rPr sz="1200" b="0">
                <a:solidFill>
                  <a:srgbClr val="14202E"/>
                </a:solidFill>
                <a:latin typeface="Segoe UI"/>
              </a:rPr>
              <a:t>Proof. FAIL requires ¬ok(c, a) for every a ∈ 𝒜. By A3, a* ∈ 𝒜, so ¬ok(c, a*): under the true reading no minute in the true window holds P ± δ in the (correct) record, i.e. the stated value did not occur - c is false.  ∎   The converse does not hold: PASS (∃a ok) does not imply c is true; ABSTAIN covers everything else.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5943600" cy="274320"/>
          </a:xfrm>
          <a:prstGeom prst="rect">
            <a:avLst/>
          </a:prstGeom>
          <a:noFill/>
        </p:spPr>
        <p:txBody>
          <a:bodyPr wrap="square">
            <a:spAutoFit/>
          </a:bodyPr>
          <a:lstStyle/>
          <a:p>
            <a:pPr algn="l">
              <a:spcAft>
                <a:spcPts val="0"/>
              </a:spcAft>
            </a:pPr>
            <a:r>
              <a:rPr sz="1100" b="1">
                <a:solidFill>
                  <a:srgbClr val="0B5C8E"/>
                </a:solidFill>
                <a:latin typeface="Segoe UI"/>
              </a:rPr>
              <a:t>APPENDIX</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0"/>
              </a:spcAft>
            </a:pPr>
            <a:r>
              <a:rPr sz="2600" b="1">
                <a:solidFill>
                  <a:srgbClr val="14202E"/>
                </a:solidFill>
                <a:latin typeface="Segoe UI"/>
              </a:rPr>
              <a:t>Appendix C · Glossary - every technical word in this deck</a:t>
            </a:r>
          </a:p>
        </p:txBody>
      </p:sp>
      <p:sp>
        <p:nvSpPr>
          <p:cNvPr id="4" name="Rectangle 3"/>
          <p:cNvSpPr/>
          <p:nvPr/>
        </p:nvSpPr>
        <p:spPr>
          <a:xfrm>
            <a:off x="548640" y="1207008"/>
            <a:ext cx="822960" cy="45720"/>
          </a:xfrm>
          <a:prstGeom prst="rect">
            <a:avLst/>
          </a:prstGeom>
          <a:solidFill>
            <a:srgbClr val="0B5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38560" y="6473952"/>
            <a:ext cx="457200" cy="274320"/>
          </a:xfrm>
          <a:prstGeom prst="rect">
            <a:avLst/>
          </a:prstGeom>
          <a:noFill/>
        </p:spPr>
        <p:txBody>
          <a:bodyPr wrap="square">
            <a:spAutoFit/>
          </a:bodyPr>
          <a:lstStyle/>
          <a:p>
            <a:pPr algn="r">
              <a:spcAft>
                <a:spcPts val="0"/>
              </a:spcAft>
            </a:pPr>
            <a:r>
              <a:rPr sz="900" b="0">
                <a:solidFill>
                  <a:srgbClr val="8A939C"/>
                </a:solidFill>
                <a:latin typeface="Segoe UI"/>
              </a:rPr>
              <a:t>18</a:t>
            </a:r>
          </a:p>
        </p:txBody>
      </p:sp>
      <p:sp>
        <p:nvSpPr>
          <p:cNvPr id="6" name="TextBox 5"/>
          <p:cNvSpPr txBox="1"/>
          <p:nvPr/>
        </p:nvSpPr>
        <p:spPr>
          <a:xfrm>
            <a:off x="548640" y="6473952"/>
            <a:ext cx="7315200" cy="274320"/>
          </a:xfrm>
          <a:prstGeom prst="rect">
            <a:avLst/>
          </a:prstGeom>
          <a:noFill/>
        </p:spPr>
        <p:txBody>
          <a:bodyPr wrap="square">
            <a:spAutoFit/>
          </a:bodyPr>
          <a:lstStyle/>
          <a:p>
            <a:pPr algn="l">
              <a:spcAft>
                <a:spcPts val="0"/>
              </a:spcAft>
            </a:pPr>
            <a:r>
              <a:rPr sz="900" b="0">
                <a:solidFill>
                  <a:srgbClr val="8A939C"/>
                </a:solidFill>
                <a:latin typeface="Segoe UI"/>
              </a:rPr>
              <a:t>Did That Trade Really Happen?  ·  PW26_SSS_08  ·  Capstone Review 2</a:t>
            </a:r>
          </a:p>
        </p:txBody>
      </p:sp>
      <p:graphicFrame>
        <p:nvGraphicFramePr>
          <p:cNvPr id="7" name="Table 6"/>
          <p:cNvGraphicFramePr>
            <a:graphicFrameLocks noGrp="1"/>
          </p:cNvGraphicFramePr>
          <p:nvPr/>
        </p:nvGraphicFramePr>
        <p:xfrm>
          <a:off x="548640" y="1463040"/>
          <a:ext cx="5486400" cy="4572000"/>
        </p:xfrm>
        <a:graphic>
          <a:graphicData uri="http://schemas.openxmlformats.org/drawingml/2006/table">
            <a:tbl>
              <a:tblPr firstRow="1" bandRow="1">
                <a:tableStyleId>{5C22544A-7EE6-4342-B048-85BDC9FD1C3A}</a:tableStyleId>
              </a:tblPr>
              <a:tblGrid>
                <a:gridCol w="1920240"/>
                <a:gridCol w="3566160"/>
              </a:tblGrid>
              <a:tr h="457200">
                <a:tc>
                  <a:txBody>
                    <a:bodyPr wrap="square"/>
                    <a:lstStyle/>
                    <a:p>
                      <a:r>
                        <a:rPr sz="1000" b="1">
                          <a:solidFill>
                            <a:srgbClr val="FFFFFF"/>
                          </a:solidFill>
                          <a:latin typeface="Segoe UI"/>
                        </a:rPr>
                        <a:t>Term</a:t>
                      </a:r>
                    </a:p>
                  </a:txBody>
                  <a:tcPr marL="54864" marR="54864" marT="27432" marB="27432">
                    <a:solidFill>
                      <a:srgbClr val="1F4E79"/>
                    </a:solidFill>
                  </a:tcPr>
                </a:tc>
                <a:tc>
                  <a:txBody>
                    <a:bodyPr wrap="square"/>
                    <a:lstStyle/>
                    <a:p>
                      <a:r>
                        <a:rPr sz="1000" b="1">
                          <a:solidFill>
                            <a:srgbClr val="FFFFFF"/>
                          </a:solidFill>
                          <a:latin typeface="Segoe UI"/>
                        </a:rPr>
                        <a:t>Meaning</a:t>
                      </a:r>
                    </a:p>
                  </a:txBody>
                  <a:tcPr marL="54864" marR="54864" marT="27432" marB="27432">
                    <a:solidFill>
                      <a:srgbClr val="1F4E79"/>
                    </a:solidFill>
                  </a:tcPr>
                </a:tc>
              </a:tr>
              <a:tr h="457200">
                <a:tc>
                  <a:txBody>
                    <a:bodyPr wrap="square"/>
                    <a:lstStyle/>
                    <a:p>
                      <a:r>
                        <a:rPr sz="1000" b="0">
                          <a:solidFill>
                            <a:srgbClr val="14202E"/>
                          </a:solidFill>
                          <a:latin typeface="Segoe UI"/>
                        </a:rPr>
                        <a:t>PASS / FAIL / ABSTAIN</a:t>
                      </a:r>
                    </a:p>
                  </a:txBody>
                  <a:tcPr marL="54864" marR="54864" marT="27432" marB="27432">
                    <a:solidFill>
                      <a:srgbClr val="FFFFFF"/>
                    </a:solidFill>
                  </a:tcPr>
                </a:tc>
                <a:tc>
                  <a:txBody>
                    <a:bodyPr wrap="square"/>
                    <a:lstStyle/>
                    <a:p>
                      <a:r>
                        <a:rPr sz="1000" b="0">
                          <a:solidFill>
                            <a:srgbClr val="14202E"/>
                          </a:solidFill>
                          <a:latin typeface="Segoe UI"/>
                        </a:rPr>
                        <a:t>fits the record / impossible however the sentence is read / not enough evidence to tell</a:t>
                      </a:r>
                    </a:p>
                  </a:txBody>
                  <a:tcPr marL="54864" marR="54864" marT="27432" marB="27432">
                    <a:solidFill>
                      <a:srgbClr val="FFFFFF"/>
                    </a:solidFill>
                  </a:tcPr>
                </a:tc>
              </a:tr>
              <a:tr h="457200">
                <a:tc>
                  <a:txBody>
                    <a:bodyPr wrap="square"/>
                    <a:lstStyle/>
                    <a:p>
                      <a:r>
                        <a:rPr sz="1000" b="0">
                          <a:solidFill>
                            <a:srgbClr val="14202E"/>
                          </a:solidFill>
                          <a:latin typeface="Segoe UI"/>
                        </a:rPr>
                        <a:t>TRADE · TIMING · TENURE</a:t>
                      </a:r>
                    </a:p>
                  </a:txBody>
                  <a:tcPr marL="54864" marR="54864" marT="27432" marB="27432">
                    <a:solidFill>
                      <a:srgbClr val="F4F6F8"/>
                    </a:solidFill>
                  </a:tcPr>
                </a:tc>
                <a:tc>
                  <a:txBody>
                    <a:bodyPr wrap="square"/>
                    <a:lstStyle/>
                    <a:p>
                      <a:r>
                        <a:rPr sz="1000" b="0">
                          <a:solidFill>
                            <a:srgbClr val="14202E"/>
                          </a:solidFill>
                          <a:latin typeface="Segoe UI"/>
                        </a:rPr>
                        <a:t>the three checks; in the app: Fill conservation · Knowability · Data age</a:t>
                      </a:r>
                    </a:p>
                  </a:txBody>
                  <a:tcPr marL="54864" marR="54864" marT="27432" marB="27432">
                    <a:solidFill>
                      <a:srgbClr val="F4F6F8"/>
                    </a:solidFill>
                  </a:tcPr>
                </a:tc>
              </a:tr>
              <a:tr h="457200">
                <a:tc>
                  <a:txBody>
                    <a:bodyPr wrap="square"/>
                    <a:lstStyle/>
                    <a:p>
                      <a:r>
                        <a:rPr sz="1000" b="0">
                          <a:solidFill>
                            <a:srgbClr val="14202E"/>
                          </a:solidFill>
                          <a:latin typeface="Segoe UI"/>
                        </a:rPr>
                        <a:t>Market record</a:t>
                      </a:r>
                    </a:p>
                  </a:txBody>
                  <a:tcPr marL="54864" marR="54864" marT="27432" marB="27432">
                    <a:solidFill>
                      <a:srgbClr val="FFFFFF"/>
                    </a:solidFill>
                  </a:tcPr>
                </a:tc>
                <a:tc>
                  <a:txBody>
                    <a:bodyPr wrap="square"/>
                    <a:lstStyle/>
                    <a:p>
                      <a:r>
                        <a:rPr sz="1000" b="0">
                          <a:solidFill>
                            <a:srgbClr val="14202E"/>
                          </a:solidFill>
                          <a:latin typeface="Segoe UI"/>
                        </a:rPr>
                        <a:t>NSE prices per minute (lowest, highest, shares traded), from Yahoo Finance; no names</a:t>
                      </a:r>
                    </a:p>
                  </a:txBody>
                  <a:tcPr marL="54864" marR="54864" marT="27432" marB="27432">
                    <a:solidFill>
                      <a:srgbClr val="FFFFFF"/>
                    </a:solidFill>
                  </a:tcPr>
                </a:tc>
              </a:tr>
              <a:tr h="457200">
                <a:tc>
                  <a:txBody>
                    <a:bodyPr wrap="square"/>
                    <a:lstStyle/>
                    <a:p>
                      <a:r>
                        <a:rPr sz="1000" b="0">
                          <a:solidFill>
                            <a:srgbClr val="14202E"/>
                          </a:solidFill>
                          <a:latin typeface="Segoe UI"/>
                        </a:rPr>
                        <a:t>Claim</a:t>
                      </a:r>
                    </a:p>
                  </a:txBody>
                  <a:tcPr marL="54864" marR="54864" marT="27432" marB="27432">
                    <a:solidFill>
                      <a:srgbClr val="F4F6F8"/>
                    </a:solidFill>
                  </a:tcPr>
                </a:tc>
                <a:tc>
                  <a:txBody>
                    <a:bodyPr wrap="square"/>
                    <a:lstStyle/>
                    <a:p>
                      <a:r>
                        <a:rPr sz="1000" b="0">
                          <a:solidFill>
                            <a:srgbClr val="14202E"/>
                          </a:solidFill>
                          <a:latin typeface="Segoe UI"/>
                        </a:rPr>
                        <a:t>any price, quantity or trade stated or shown in the video</a:t>
                      </a:r>
                    </a:p>
                  </a:txBody>
                  <a:tcPr marL="54864" marR="54864" marT="27432" marB="27432">
                    <a:solidFill>
                      <a:srgbClr val="F4F6F8"/>
                    </a:solidFill>
                  </a:tcPr>
                </a:tc>
              </a:tr>
              <a:tr h="457200">
                <a:tc>
                  <a:txBody>
                    <a:bodyPr wrap="square"/>
                    <a:lstStyle/>
                    <a:p>
                      <a:r>
                        <a:rPr sz="1000" b="0">
                          <a:solidFill>
                            <a:srgbClr val="14202E"/>
                          </a:solidFill>
                          <a:latin typeface="Segoe UI"/>
                        </a:rPr>
                        <a:t>Reader / encoder · OCR · ASR</a:t>
                      </a:r>
                    </a:p>
                  </a:txBody>
                  <a:tcPr marL="54864" marR="54864" marT="27432" marB="27432">
                    <a:solidFill>
                      <a:srgbClr val="FFFFFF"/>
                    </a:solidFill>
                  </a:tcPr>
                </a:tc>
                <a:tc>
                  <a:txBody>
                    <a:bodyPr wrap="square"/>
                    <a:lstStyle/>
                    <a:p>
                      <a:r>
                        <a:rPr sz="1000" b="0">
                          <a:solidFill>
                            <a:srgbClr val="14202E"/>
                          </a:solidFill>
                          <a:latin typeface="Segoe UI"/>
                        </a:rPr>
                        <a:t>program turning one input into facts · reads text in pictures · turns speech into text</a:t>
                      </a:r>
                    </a:p>
                  </a:txBody>
                  <a:tcPr marL="54864" marR="54864" marT="27432" marB="27432">
                    <a:solidFill>
                      <a:srgbClr val="FFFFFF"/>
                    </a:solidFill>
                  </a:tcPr>
                </a:tc>
              </a:tr>
              <a:tr h="457200">
                <a:tc>
                  <a:txBody>
                    <a:bodyPr wrap="square"/>
                    <a:lstStyle/>
                    <a:p>
                      <a:r>
                        <a:rPr sz="1000" b="0">
                          <a:solidFill>
                            <a:srgbClr val="14202E"/>
                          </a:solidFill>
                          <a:latin typeface="Segoe UI"/>
                        </a:rPr>
                        <a:t>Day-high (‘ratchet’, monotone)</a:t>
                      </a:r>
                    </a:p>
                  </a:txBody>
                  <a:tcPr marL="54864" marR="54864" marT="27432" marB="27432">
                    <a:solidFill>
                      <a:srgbClr val="F4F6F8"/>
                    </a:solidFill>
                  </a:tcPr>
                </a:tc>
                <a:tc>
                  <a:txBody>
                    <a:bodyPr wrap="square"/>
                    <a:lstStyle/>
                    <a:p>
                      <a:r>
                        <a:rPr sz="1000" b="0">
                          <a:solidFill>
                            <a:srgbClr val="14202E"/>
                          </a:solidFill>
                          <a:latin typeface="Segoe UI"/>
                        </a:rPr>
                        <a:t>the chart's ‘highest so far today’; it can only rise, so it works like a clock</a:t>
                      </a:r>
                    </a:p>
                  </a:txBody>
                  <a:tcPr marL="54864" marR="54864" marT="27432" marB="27432">
                    <a:solidFill>
                      <a:srgbClr val="F4F6F8"/>
                    </a:solidFill>
                  </a:tcPr>
                </a:tc>
              </a:tr>
              <a:tr h="457200">
                <a:tc>
                  <a:txBody>
                    <a:bodyPr wrap="square"/>
                    <a:lstStyle/>
                    <a:p>
                      <a:r>
                        <a:rPr sz="1000" b="0">
                          <a:solidFill>
                            <a:srgbClr val="14202E"/>
                          </a:solidFill>
                          <a:latin typeface="Segoe UI"/>
                        </a:rPr>
                        <a:t>τ (tau), ± u</a:t>
                      </a:r>
                    </a:p>
                  </a:txBody>
                  <a:tcPr marL="54864" marR="54864" marT="27432" marB="27432">
                    <a:solidFill>
                      <a:srgbClr val="FFFFFF"/>
                    </a:solidFill>
                  </a:tcPr>
                </a:tc>
                <a:tc>
                  <a:txBody>
                    <a:bodyPr wrap="square"/>
                    <a:lstStyle/>
                    <a:p>
                      <a:r>
                        <a:rPr sz="1000" b="0">
                          <a:solidFill>
                            <a:srgbClr val="14202E"/>
                          </a:solidFill>
                          <a:latin typeface="Segoe UI"/>
                        </a:rPr>
                        <a:t>how far the video runs behind the market, and the uncertainty of that estimate</a:t>
                      </a:r>
                    </a:p>
                  </a:txBody>
                  <a:tcPr marL="54864" marR="54864" marT="27432" marB="27432">
                    <a:solidFill>
                      <a:srgbClr val="FFFFFF"/>
                    </a:solidFill>
                  </a:tcPr>
                </a:tc>
              </a:tr>
              <a:tr h="457200">
                <a:tc>
                  <a:txBody>
                    <a:bodyPr wrap="square"/>
                    <a:lstStyle/>
                    <a:p>
                      <a:r>
                        <a:rPr sz="1000" b="0">
                          <a:solidFill>
                            <a:srgbClr val="14202E"/>
                          </a:solidFill>
                          <a:latin typeface="Segoe UI"/>
                        </a:rPr>
                        <a:t>Feasible set</a:t>
                      </a:r>
                    </a:p>
                  </a:txBody>
                  <a:tcPr marL="54864" marR="54864" marT="27432" marB="27432">
                    <a:solidFill>
                      <a:srgbClr val="F4F6F8"/>
                    </a:solidFill>
                  </a:tcPr>
                </a:tc>
                <a:tc>
                  <a:txBody>
                    <a:bodyPr wrap="square"/>
                    <a:lstStyle/>
                    <a:p>
                      <a:r>
                        <a:rPr sz="1000" b="0">
                          <a:solidFill>
                            <a:srgbClr val="14202E"/>
                          </a:solidFill>
                          <a:latin typeface="Segoe UI"/>
                        </a:rPr>
                        <a:t>all moments still consistent with every frame seen so far</a:t>
                      </a:r>
                    </a:p>
                  </a:txBody>
                  <a:tcPr marL="54864" marR="54864" marT="27432" marB="27432">
                    <a:solidFill>
                      <a:srgbClr val="F4F6F8"/>
                    </a:solidFill>
                  </a:tcPr>
                </a:tc>
              </a:tr>
              <a:tr h="457200">
                <a:tc>
                  <a:txBody>
                    <a:bodyPr wrap="square"/>
                    <a:lstStyle/>
                    <a:p>
                      <a:r>
                        <a:rPr sz="1000" b="0">
                          <a:solidFill>
                            <a:srgbClr val="14202E"/>
                          </a:solidFill>
                          <a:latin typeface="Segoe UI"/>
                        </a:rPr>
                        <a:t>Sound / admissible reading</a:t>
                      </a:r>
                    </a:p>
                  </a:txBody>
                  <a:tcPr marL="54864" marR="54864" marT="27432" marB="27432">
                    <a:solidFill>
                      <a:srgbClr val="FFFFFF"/>
                    </a:solidFill>
                  </a:tcPr>
                </a:tc>
                <a:tc>
                  <a:txBody>
                    <a:bodyPr wrap="square"/>
                    <a:lstStyle/>
                    <a:p>
                      <a:r>
                        <a:rPr sz="1000" b="0">
                          <a:solidFill>
                            <a:srgbClr val="14202E"/>
                          </a:solidFill>
                          <a:latin typeface="Segoe UI"/>
                        </a:rPr>
                        <a:t>never says FAIL wrongly / a reading of the sentence a listener could reasonably take</a:t>
                      </a:r>
                    </a:p>
                  </a:txBody>
                  <a:tcPr marL="54864" marR="54864" marT="27432" marB="27432">
                    <a:solidFill>
                      <a:srgbClr val="FFFFFF"/>
                    </a:solidFill>
                  </a:tcPr>
                </a:tc>
              </a:tr>
            </a:tbl>
          </a:graphicData>
        </a:graphic>
      </p:graphicFrame>
      <p:graphicFrame>
        <p:nvGraphicFramePr>
          <p:cNvPr id="8" name="Table 7"/>
          <p:cNvGraphicFramePr>
            <a:graphicFrameLocks noGrp="1"/>
          </p:cNvGraphicFramePr>
          <p:nvPr/>
        </p:nvGraphicFramePr>
        <p:xfrm>
          <a:off x="6217920" y="1463040"/>
          <a:ext cx="5486400" cy="4572000"/>
        </p:xfrm>
        <a:graphic>
          <a:graphicData uri="http://schemas.openxmlformats.org/drawingml/2006/table">
            <a:tbl>
              <a:tblPr firstRow="1" bandRow="1">
                <a:tableStyleId>{5C22544A-7EE6-4342-B048-85BDC9FD1C3A}</a:tableStyleId>
              </a:tblPr>
              <a:tblGrid>
                <a:gridCol w="1920240"/>
                <a:gridCol w="3566160"/>
              </a:tblGrid>
              <a:tr h="457200">
                <a:tc>
                  <a:txBody>
                    <a:bodyPr wrap="square"/>
                    <a:lstStyle/>
                    <a:p>
                      <a:r>
                        <a:rPr sz="1000" b="1">
                          <a:solidFill>
                            <a:srgbClr val="FFFFFF"/>
                          </a:solidFill>
                          <a:latin typeface="Segoe UI"/>
                        </a:rPr>
                        <a:t>Term</a:t>
                      </a:r>
                    </a:p>
                  </a:txBody>
                  <a:tcPr marL="54864" marR="54864" marT="27432" marB="27432">
                    <a:solidFill>
                      <a:srgbClr val="1F4E79"/>
                    </a:solidFill>
                  </a:tcPr>
                </a:tc>
                <a:tc>
                  <a:txBody>
                    <a:bodyPr wrap="square"/>
                    <a:lstStyle/>
                    <a:p>
                      <a:r>
                        <a:rPr sz="1000" b="1">
                          <a:solidFill>
                            <a:srgbClr val="FFFFFF"/>
                          </a:solidFill>
                          <a:latin typeface="Segoe UI"/>
                        </a:rPr>
                        <a:t>Meaning</a:t>
                      </a:r>
                    </a:p>
                  </a:txBody>
                  <a:tcPr marL="54864" marR="54864" marT="27432" marB="27432">
                    <a:solidFill>
                      <a:srgbClr val="1F4E79"/>
                    </a:solidFill>
                  </a:tcPr>
                </a:tc>
              </a:tr>
              <a:tr h="457200">
                <a:tc>
                  <a:txBody>
                    <a:bodyPr wrap="square"/>
                    <a:lstStyle/>
                    <a:p>
                      <a:r>
                        <a:rPr sz="1000" b="0">
                          <a:solidFill>
                            <a:srgbClr val="14202E"/>
                          </a:solidFill>
                          <a:latin typeface="Segoe UI"/>
                        </a:rPr>
                        <a:t>Proposition / proof</a:t>
                      </a:r>
                    </a:p>
                  </a:txBody>
                  <a:tcPr marL="54864" marR="54864" marT="27432" marB="27432">
                    <a:solidFill>
                      <a:srgbClr val="FFFFFF"/>
                    </a:solidFill>
                  </a:tcPr>
                </a:tc>
                <a:tc>
                  <a:txBody>
                    <a:bodyPr wrap="square"/>
                    <a:lstStyle/>
                    <a:p>
                      <a:r>
                        <a:rPr sz="1000" b="0">
                          <a:solidFill>
                            <a:srgbClr val="14202E"/>
                          </a:solidFill>
                          <a:latin typeface="Segoe UI"/>
                        </a:rPr>
                        <a:t>a precisely stated guarantee / the argument showing it holds (Appendix B)</a:t>
                      </a:r>
                    </a:p>
                  </a:txBody>
                  <a:tcPr marL="54864" marR="54864" marT="27432" marB="27432">
                    <a:solidFill>
                      <a:srgbClr val="FFFFFF"/>
                    </a:solidFill>
                  </a:tcPr>
                </a:tc>
              </a:tr>
              <a:tr h="457200">
                <a:tc>
                  <a:txBody>
                    <a:bodyPr wrap="square"/>
                    <a:lstStyle/>
                    <a:p>
                      <a:r>
                        <a:rPr sz="1000" b="0">
                          <a:solidFill>
                            <a:srgbClr val="14202E"/>
                          </a:solidFill>
                          <a:latin typeface="Segoe UI"/>
                        </a:rPr>
                        <a:t>Held-out · development · frozen</a:t>
                      </a:r>
                    </a:p>
                  </a:txBody>
                  <a:tcPr marL="54864" marR="54864" marT="27432" marB="27432">
                    <a:solidFill>
                      <a:srgbClr val="F4F6F8"/>
                    </a:solidFill>
                  </a:tcPr>
                </a:tc>
                <a:tc>
                  <a:txBody>
                    <a:bodyPr wrap="square"/>
                    <a:lstStyle/>
                    <a:p>
                      <a:r>
                        <a:rPr sz="1000" b="0">
                          <a:solidFill>
                            <a:srgbClr val="14202E"/>
                          </a:solidFill>
                          <a:latin typeface="Segoe UI"/>
                        </a:rPr>
                        <a:t>fair test on unseen data · data used for fixing (weaker) · locked, no changes</a:t>
                      </a:r>
                    </a:p>
                  </a:txBody>
                  <a:tcPr marL="54864" marR="54864" marT="27432" marB="27432">
                    <a:solidFill>
                      <a:srgbClr val="F4F6F8"/>
                    </a:solidFill>
                  </a:tcPr>
                </a:tc>
              </a:tr>
              <a:tr h="457200">
                <a:tc>
                  <a:txBody>
                    <a:bodyPr wrap="square"/>
                    <a:lstStyle/>
                    <a:p>
                      <a:r>
                        <a:rPr sz="1000" b="0">
                          <a:solidFill>
                            <a:srgbClr val="14202E"/>
                          </a:solidFill>
                          <a:latin typeface="Segoe UI"/>
                        </a:rPr>
                        <a:t>Baseline · ablation</a:t>
                      </a:r>
                    </a:p>
                  </a:txBody>
                  <a:tcPr marL="54864" marR="54864" marT="27432" marB="27432">
                    <a:solidFill>
                      <a:srgbClr val="FFFFFF"/>
                    </a:solidFill>
                  </a:tcPr>
                </a:tc>
                <a:tc>
                  <a:txBody>
                    <a:bodyPr wrap="square"/>
                    <a:lstStyle/>
                    <a:p>
                      <a:r>
                        <a:rPr sz="1000" b="0">
                          <a:solidFill>
                            <a:srgbClr val="14202E"/>
                          </a:solidFill>
                          <a:latin typeface="Segoe UI"/>
                        </a:rPr>
                        <a:t>simpler method compared against · switching one part off to show it is needed</a:t>
                      </a:r>
                    </a:p>
                  </a:txBody>
                  <a:tcPr marL="54864" marR="54864" marT="27432" marB="27432">
                    <a:solidFill>
                      <a:srgbClr val="FFFFFF"/>
                    </a:solidFill>
                  </a:tcPr>
                </a:tc>
              </a:tr>
              <a:tr h="457200">
                <a:tc>
                  <a:txBody>
                    <a:bodyPr wrap="square"/>
                    <a:lstStyle/>
                    <a:p>
                      <a:r>
                        <a:rPr sz="1000" b="0">
                          <a:solidFill>
                            <a:srgbClr val="14202E"/>
                          </a:solidFill>
                          <a:latin typeface="Segoe UI"/>
                        </a:rPr>
                        <a:t>95 % range (Wilson interval)</a:t>
                      </a:r>
                    </a:p>
                  </a:txBody>
                  <a:tcPr marL="54864" marR="54864" marT="27432" marB="27432">
                    <a:solidFill>
                      <a:srgbClr val="F4F6F8"/>
                    </a:solidFill>
                  </a:tcPr>
                </a:tc>
                <a:tc>
                  <a:txBody>
                    <a:bodyPr wrap="square"/>
                    <a:lstStyle/>
                    <a:p>
                      <a:r>
                        <a:rPr sz="1000" b="0">
                          <a:solidFill>
                            <a:srgbClr val="14202E"/>
                          </a:solidFill>
                          <a:latin typeface="Segoe UI"/>
                        </a:rPr>
                        <a:t>with few cases, the range in which the true rate very likely lies; e.g. 3 of 3 right → somewhere between 44 % and 100 %</a:t>
                      </a:r>
                    </a:p>
                  </a:txBody>
                  <a:tcPr marL="54864" marR="54864" marT="27432" marB="27432">
                    <a:solidFill>
                      <a:srgbClr val="F4F6F8"/>
                    </a:solidFill>
                  </a:tcPr>
                </a:tc>
              </a:tr>
              <a:tr h="457200">
                <a:tc>
                  <a:txBody>
                    <a:bodyPr wrap="square"/>
                    <a:lstStyle/>
                    <a:p>
                      <a:r>
                        <a:rPr sz="1000" b="0">
                          <a:solidFill>
                            <a:srgbClr val="14202E"/>
                          </a:solidFill>
                          <a:latin typeface="Segoe UI"/>
                        </a:rPr>
                        <a:t>ENF · DTW</a:t>
                      </a:r>
                    </a:p>
                  </a:txBody>
                  <a:tcPr marL="54864" marR="54864" marT="27432" marB="27432">
                    <a:solidFill>
                      <a:srgbClr val="FFFFFF"/>
                    </a:solidFill>
                  </a:tcPr>
                </a:tc>
                <a:tc>
                  <a:txBody>
                    <a:bodyPr wrap="square"/>
                    <a:lstStyle/>
                    <a:p>
                      <a:r>
                        <a:rPr sz="1000" b="0">
                          <a:solidFill>
                            <a:srgbClr val="14202E"/>
                          </a:solidFill>
                          <a:latin typeface="Segoe UI"/>
                        </a:rPr>
                        <a:t>dating audio from electric-grid hum · lining up two time series</a:t>
                      </a:r>
                    </a:p>
                  </a:txBody>
                  <a:tcPr marL="54864" marR="54864" marT="27432" marB="27432">
                    <a:solidFill>
                      <a:srgbClr val="FFFFFF"/>
                    </a:solidFill>
                  </a:tcPr>
                </a:tc>
              </a:tr>
              <a:tr h="457200">
                <a:tc>
                  <a:txBody>
                    <a:bodyPr wrap="square"/>
                    <a:lstStyle/>
                    <a:p>
                      <a:r>
                        <a:rPr sz="1000" b="0">
                          <a:solidFill>
                            <a:srgbClr val="14202E"/>
                          </a:solidFill>
                          <a:latin typeface="Segoe UI"/>
                        </a:rPr>
                        <a:t>SNTP clock · IST</a:t>
                      </a:r>
                    </a:p>
                  </a:txBody>
                  <a:tcPr marL="54864" marR="54864" marT="27432" marB="27432">
                    <a:solidFill>
                      <a:srgbClr val="F4F6F8"/>
                    </a:solidFill>
                  </a:tcPr>
                </a:tc>
                <a:tc>
                  <a:txBody>
                    <a:bodyPr wrap="square"/>
                    <a:lstStyle/>
                    <a:p>
                      <a:r>
                        <a:rPr sz="1000" b="0">
                          <a:solidFill>
                            <a:srgbClr val="14202E"/>
                          </a:solidFill>
                          <a:latin typeface="Segoe UI"/>
                        </a:rPr>
                        <a:t>the recording computer's clock, set from internet time servers - used only to check · Indian Standard Time</a:t>
                      </a:r>
                    </a:p>
                  </a:txBody>
                  <a:tcPr marL="54864" marR="54864" marT="27432" marB="27432">
                    <a:solidFill>
                      <a:srgbClr val="F4F6F8"/>
                    </a:solidFill>
                  </a:tcPr>
                </a:tc>
              </a:tr>
              <a:tr h="457200">
                <a:tc>
                  <a:txBody>
                    <a:bodyPr wrap="square"/>
                    <a:lstStyle/>
                    <a:p>
                      <a:r>
                        <a:rPr sz="1000" b="0">
                          <a:solidFill>
                            <a:srgbClr val="14202E"/>
                          </a:solidFill>
                          <a:latin typeface="Segoe UI"/>
                        </a:rPr>
                        <a:t>Fingerprint (hash, sha256)</a:t>
                      </a:r>
                    </a:p>
                  </a:txBody>
                  <a:tcPr marL="54864" marR="54864" marT="27432" marB="27432">
                    <a:solidFill>
                      <a:srgbClr val="FFFFFF"/>
                    </a:solidFill>
                  </a:tcPr>
                </a:tc>
                <a:tc>
                  <a:txBody>
                    <a:bodyPr wrap="square"/>
                    <a:lstStyle/>
                    <a:p>
                      <a:r>
                        <a:rPr sz="1000" b="0">
                          <a:solidFill>
                            <a:srgbClr val="14202E"/>
                          </a:solidFill>
                          <a:latin typeface="Segoe UI"/>
                        </a:rPr>
                        <a:t>a short code computed from a file; it changes if the file is altered</a:t>
                      </a:r>
                    </a:p>
                  </a:txBody>
                  <a:tcPr marL="54864" marR="54864" marT="27432" marB="27432">
                    <a:solidFill>
                      <a:srgbClr val="FFFFFF"/>
                    </a:solidFill>
                  </a:tcPr>
                </a:tc>
              </a:tr>
              <a:tr h="457200">
                <a:tc>
                  <a:txBody>
                    <a:bodyPr wrap="square"/>
                    <a:lstStyle/>
                    <a:p>
                      <a:r>
                        <a:rPr sz="1000" b="0">
                          <a:solidFill>
                            <a:srgbClr val="14202E"/>
                          </a:solidFill>
                          <a:latin typeface="Segoe UI"/>
                        </a:rPr>
                        <a:t>Liquid stock · option strike</a:t>
                      </a:r>
                    </a:p>
                  </a:txBody>
                  <a:tcPr marL="54864" marR="54864" marT="27432" marB="27432">
                    <a:solidFill>
                      <a:srgbClr val="F4F6F8"/>
                    </a:solidFill>
                  </a:tcPr>
                </a:tc>
                <a:tc>
                  <a:txBody>
                    <a:bodyPr wrap="square"/>
                    <a:lstStyle/>
                    <a:p>
                      <a:r>
                        <a:rPr sz="1000" b="0">
                          <a:solidFill>
                            <a:srgbClr val="14202E"/>
                          </a:solidFill>
                          <a:latin typeface="Segoe UI"/>
                        </a:rPr>
                        <a:t>a heavily traded stock · the fixed price in an option contract (‘the 22,700 call’)</a:t>
                      </a:r>
                    </a:p>
                  </a:txBody>
                  <a:tcPr marL="54864" marR="54864" marT="27432" marB="27432">
                    <a:solidFill>
                      <a:srgbClr val="F4F6F8"/>
                    </a:solidFill>
                  </a:tcPr>
                </a:tc>
              </a:tr>
              <a:tr h="457200">
                <a:tc>
                  <a:txBody>
                    <a:bodyPr wrap="square"/>
                    <a:lstStyle/>
                    <a:p>
                      <a:r>
                        <a:rPr sz="1000" b="0">
                          <a:solidFill>
                            <a:srgbClr val="14202E"/>
                          </a:solidFill>
                          <a:latin typeface="Segoe UI"/>
                        </a:rPr>
                        <a:t>SEBI 30-day rule</a:t>
                      </a:r>
                    </a:p>
                  </a:txBody>
                  <a:tcPr marL="54864" marR="54864" marT="27432" marB="27432">
                    <a:solidFill>
                      <a:srgbClr val="FFFFFF"/>
                    </a:solidFill>
                  </a:tcPr>
                </a:tc>
                <a:tc>
                  <a:txBody>
                    <a:bodyPr wrap="square"/>
                    <a:lstStyle/>
                    <a:p>
                      <a:r>
                        <a:rPr sz="1000" b="0">
                          <a:solidFill>
                            <a:srgbClr val="14202E"/>
                          </a:solidFill>
                          <a:latin typeface="Segoe UI"/>
                        </a:rPr>
                        <a:t>a person who only teaches about stocks must not use prices from the last 30 days when recommending a stock</a:t>
                      </a:r>
                    </a:p>
                  </a:txBody>
                  <a:tcPr marL="54864" marR="54864" marT="27432" marB="2743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